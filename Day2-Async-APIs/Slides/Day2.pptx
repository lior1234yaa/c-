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ברוכים הבאים ליום השני. אתמול בנינו את היסודות — מחלקות, אוספים, LINQ וחריגות. היום נלמד איך לגרום לתוכנית לעשות כמה דברים בו-זמנית ולדבר עם העולם דרך HTTP. בקשו מכולם לוודא ש-.NET 10 מותקן ושהם הצליחו לשכפל את הריפו.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על לוח הזמנים. מעבדה 4 היא מעבדת אינטגרציה של 75 דקות — היא מיועדת למי שמסיים מוקדם את מעבדה 3, לשיעורי בית או לפתיחת יום 3. הדגישו שהמעבדות הן הלב של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תנו לכולם 5 דקות להריץ את ה-API המקומי עכשיו, כדי שלא נאבד זמן במעבדה 3. אם הפורט 5080 תפוס אצל מישהו — הפורט מוגדר בשורה אחת ב-Program.cs. הסבירו ש-/api/slow ו-/api/flaky קיימים בכוונה כדי לתרגל timeout ו-retry.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המודול הראשון מניח את המושגים. המטרה: שכולם יבינו למה צריך מקביליות, מה ההבדל בין Thread ל-Process, ומה זה race condition — עוד לפני שנדבר על async.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השיתוף של ה-Heap הוא הנקודה הכי חשובה בשקף: זה מה שהופך תהליכונים לשימושיים ומסוכנים בו-זמנית. הריצו את Day2.Demo.Threads דמו 1 כדי להראות כמה תהליכונים יש בתהליך פשוט.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את הדמו החי. הדגישו ש-Thread.Sleep משהה רק את התהליכון הנוכחי. שאלו: מה יקרה אם נשכח את Join? התוכנית עלולה להסתיים לפני שה-worker הדפיס משהו.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 מס' 5 (cost of threads) מראה את ההבדל: 200 תהליכונים ידניים, 200 Task.Run, ו-200 Task.Delay. שימו לב לזמן של Task.Run — הבריכה גדלה לאט כשהעבודות חוסמות. זה הזרע לשיחה על הרעבה במודול 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זה השקף הכי חשוב במודול. הריצו את הדמו כמה פעמים והראו שהמספר שונה בכל פעם. ציירו על הלוח את שלושת השלבים של ++ ואיך שני תהליכונים "דורסים" זה את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טעות נפוצה: לפתוח תהליכון כדי לחכות לרשת. התהליכון יושב ומחכה ולא עושה כלום. עבור IO רוצים await שמשחרר את התהליכון. דמו 6 מראה 4 המתנות של 100ms: 400ms סדרתי מול 100ms עם Task.Delay + WhenAll.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דמו 8 מראה ש-PLINQ עם עבודה זולה איטי יותר מ-LINQ רגיל — ה-overhead של החלוקה גדול מהרווח. זו נקודה חשובה: מקביליות היא לא קסם. Parallel.ForEachAsync (.NET 6) מאפשר גוף אסינכרוני.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המודול המרכזי של היום. כל השאר נבנה עליו. קחו את הזמן על מכונת המצבים — מי שמבין מה קורה ב-await לא יכתוב .Result.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המשפט לזכור: Task הוא הבטחה, לא תהליכון. Task.Delay לא תופס שום תהליכון במשך ההמתנה — זה ההבדל המהותי מ-Thread.Sleep.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הריצו את הדמו והראו את סדר ההדפסות. השאלה שכולם שואלים: "על איזה תהליכון רץ part 2?" — בקונסול: תהליכון Pool כלשהו; ב-WPF: תהליכון ה-UI. זה יהיה חשוב ביום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ציירו את זה על הלוב כ"ציר זמן" עם שני שחקנים: הקורא והמתודה. השלב השני הוא המפתח: המתודה "מחזירה" באמצע, וממשיכה מאוחר 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הדפוס "await בלולאה" הוא הבאג הכי נפוץ אצל מתחילים — הקוד נראה אסינכרוני אבל רץ סדרתית. במעבדה 1 הם ימדדו את זה בעצמם.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דמו 4 ב-Day2.Demo.AsyncAwait מראה את שלושת המקרים. הדגישו את async void: הסיבה היחידה לקיומו היא חתימות של event handlers. בכל מקום אחר — async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ביטול הוא לא "שגיאה" — זו הדרך התקינה לצאת. הטעות הנפוצה: catch (Exception) שבולע גם את הביטול. במעבדה 1 הם יחברו Ctrl+C לטוקן.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שני כלים משלימים: IProgress לדיווח "כמה נשאר", IAsyncEnumerable לתוצאות שמגיעות בהדרגה. ValueTask נזכיר רק בקצרה — אופטימיזציה למקרים חמים אחרי מדידה.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הנקודה שהכי שווה לחכות לה: מי שלא עוטף את ProcessImage ב-Task.Run יגלה שגרסת WhenAll שלו כמעט לא מהירה יותר — כי החישוב רץ סדרתית לפני ה-await הראשון. תנו להם לגלות את זה לבד ואז הסבירו.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עכשיו שראינו את הבעיה (race condition) — הפתרונות. סדר ההצגה: קודם "לא לשתף", אז "לא לשנות", ורק אז נעילות.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הסדר הזה מכוון: נעילות הן המוצא האחרון, לא הראשון. הרבה בעיות סנכרון נפתרות בשינוי תכנון — למשל להחזיר תוצאות מ-Task במקום לכתוב לאוסף משותף.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הטעות הקלאסית: לנעול בכתיבה ולשכוח בקריאה. הסבירו ש-lock הוא סוכר תחבירי ל-Monitor.Enter/Exit ב-try/finally, ושהמהדר לא מרשה await בתוכו.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עברו במהירות — הפרטים בחומר. הדגישו את SemaphoreSlim.WaitAsync: כשמישהו שואל "איך עושים lock בקוד async?" זו התשובה: SemaphoreSlim(1,1).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 ב-Day2.Demo.Synchronization מודד: 10 עבודות של 100ms עם 3 כרטיסים = ~400ms, ושיא המקביליות בדיוק 3. במעבדה 4 הם ישתמשו בזה להגבלת מקורות.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 מראה List&lt;int&gt; תחת Parallel.For: לפעמים 31,000 במקום 100,000, לפעמים חריגה. זה ממחיש טוב יותר מכל הסבר. ה-API המקומי שלנו משתמש ב-ConcurrentDictionary — אפשר להראות את הקוד.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Day2.Demo.ProducerConsumer מראה 4 תרחישים כולל לוגר. ההבדל מ-BlockingCollection: Channel לא חוסם תהליכונים. שאלו: מה קורה בלי Complete()? הצרכנים מחכים לנצח.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הדמו מזהה deadlock עם TryEnter כדי לא לתקוע את התוכנית. במעבדה 2 הם יראו את התוכנית באמת נתקעת (עם watchdog). ההגנה מספר 1 היא סדר נעילה.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ה-invariant "סכום הכסף קבוע" הוא המדד. תזכורת: Interlocked לא עובד על decimal — לכן אגורות. השאלה הטובה לדיון: למה ConcurrentBank שומר על הסכום בלי לנעול שני חשבונות יחד?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עוברים מהעולם הפנימי לעולם החיצוני. רוב המשתתפים כבר נתקלו ב-HTTP — התמקדו בדרך הנכונה לעשות את זה ב-.NET.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הכלל שעוזר לזכור: 4xx = תקנו את הבקשה ואל תנסו שוב; 5xx / 429 = נסו שוב אחרי המתנה. 404 הוא לרוב תשובה לגיטימית ("אין כזה"), לא שגיאה.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curl חי מול ה-API המקומי: GET, POST עם -d, DELETE עם -i כדי לראות את הסטטוס. זה מכין אותם למעבדה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הכלל של מופע אחד הוא הדבר הכי חשוב בשקף. הסבירו למה: כל מופע מחזיק חיבורי TCP, ו-using בכל קריאה משאיר sockets ב-TIME_WAIT עד שהמערכת נחנקת.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ה-/api/flaky של ה-API המקומי נכשל ב-50% מהפעמים — מקום מושלם לתרגל. הזכירו ש-POST לא idempotent: retry עלול ליצור שני משאבים.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ארבע חריגות לתפוס — ובסדר הזה. הדגישו: תפיסת OperationCanceledException בנפרד, לפני Exception כללי. ובלי timeout, בקשה תקועה = אפליקציה תקועה.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הראו קובץ .http אם יש זמן — זה הכלי שהכי קל לאמץ. ולגבי סודות: אם מישהו כבר דחף מפתח ל-Git — לסובב אותו (rotate), לא רק למחוק.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מודול קצר וטכני. רוב המשתתפים ראו JSON; המטרה היא הדרך הנכונה ב-.NET המודרני ושתי המלכודות: camelCase ו-enum כמספר.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שתי המלכודות: בלי CamelCase השדות יוצאים PascalCase ורוב ה-APIs לא יאהבו; בלי JsonStringEnumConverter ה-enum יוצא כמספר. הראו את הפלט לפני ואחרי ב-Day2.Demo.HttpJson.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Open-Meteo (מעבדה 4) מחזיר temperature_2m — בדיוק המקרה ל-JsonPropertyName. הזכירו: מאפיין בלי set/init לא ידה-סורלז, ושדות (fields) דורשים IncludeFields.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רוב הזמן DTO. JsonNode כשצריך שני שדות מתשובה ענקית או כשהמבנה משתנה. Source generators — רק להזכיר: המהדר מייצר את קוד הסריאליזציה, בלי reflection.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המסר: קוד חדש — System.Text.Json. קוד קיים עם Newtonsoft — לא לשכתב סתם. יש מדריך מעבר רשמי ב-learn.microsoft.com (בקריאה נוספת של מודול 05).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ודאו שה-API המקומי רץ אצל כולם. מי שמסיים מוקדם — מתחיל את מעבדה 4. שאלת דיון טובה: למה 404 מחזיר null ו-400 זורק חריגה?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המודול האחרון — קצר וממוקד. המטרה: שייצאו עם צ'קליסט של הבאגים הנפוצים ועם ידיעה שיש כלים ב-Visual Studio לדבג את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ציירו את המעגל: ה-UI thread מחכה ל-Task, ה-Task מחכה ל-UI thread. זה הבאג שרואים הכי הרבה בקוד של מתחילים ב-WPF — יום 3 יראה את זה חי.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ConfigureAwait(false) הוא הדבר שכולם "שמעו שצריך". התשובה המדויקת: בספריות כן, באפליקציה לא. Task.Run סביב HttpClient הוא הטעות השנייה בתפוצה אחרי .Result.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תרגיל 15 מדגים את ההרעבה: 20 עבודות שחוסמות ב-.Wait() לוקחות פי 2–3 יותר זמן מ-await, וה-ThreadPool גדל. אם יש זמן — הריצו dotnet-counters מול אחד הדמואים.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אם אתם על Windows עם Visual Studio — פתחו את Day2.Demo.AsyncAwait, שימו breakpoint אחרי await והראו את Tasks window ואת ה-async call stack. זה שווה יותר מכל הסבר.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הטבלה המלאה בחומר של מודול 06. הציעו להדפיס ולתלות ליד המסך. כל שורה כאן היא באג שראינו היום בדמו או במעבדה.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Microsoft.Extensions.Logging.Console היא חבילת NuGet בקונסול; ב-ASP.NET Core הכל מובנה. ביום 4 נחבר את זה ל-DI. הדגישו את ההבדל בין {Source} ל-$"{source}".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זו מעבדת האינטגרציה — היא נוגעת בכל ששת המודולים. בלי אינטרנט מזג האוויר יציג offline אחרי ה-timeout וזה בסדר: זו בדיוק ההתנהגות שרוצים. הפתרון כולל גם "stale values" כבונוס.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רגע לעצור: מקביליות (Parallel) מאיצה חישוב; אסינכרוניות (async) משחררת תהליכונים בזמן המתנה. שני כלים, שתי בעיות שונות. אם לוקחים משפט אחד מהיום — זה.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סכמו בקצרה כל מודול במשפט. הזכירו שמעבדה 4 היא שיעורי הבית למי שלא הגיע אליה, ושמחר נראה את async/await בהקשר של ממשק משתמש — שם .Result באמת תוקע את החלון.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image" Target="../media/image-4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3200400"/>
            <a:ext cx="4114800" cy="4114800"/>
          </a:xfrm>
          <a:prstGeom prst="ellipse">
            <a:avLst/>
          </a:prstGeom>
          <a:solidFill>
            <a:srgbClr val="7C5CE6">
              <a:alpha val="25000"/>
            </a:srgbClr>
          </a:solidFill>
          <a:ln w="12700">
            <a:solidFill>
              <a:srgbClr val="7C5CE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FB020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50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10058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</a:t>
            </a:r>
            <a:endParaRPr lang="he-I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645920"/>
            <a:ext cx="6492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יום 2 — Multithreading, תכנות אסינכרוני ו-APIs</a:t>
            </a:r>
            <a:endParaRPr lang="he-IL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374904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2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Threads, Tasks ו-async/await · סנכרון · HttpClient · JSON · ביצועים ודיבוג</a:t>
            </a:r>
            <a:endParaRPr lang="he-IL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5212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4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09:00–16:30 · 6 מודולים · 4 מעבדות</a:t>
            </a:r>
            <a:endParaRPr lang="he-IL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היום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09:15 — מודול 01: Threads, ThreadPool, race conditions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10:00 — מודול 02: Tasks ו-async/await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— מעבדה 1: עיבוד מקבילי (50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11:50 — מודול 03: סנכרון, אוספים מקביליים, Channel&lt;T&gt;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 — צהריים · 13:15 — מעבדה 2: בנק בטוח (60 דק')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14:15 — מודול 04: REST ו-HttpClient · 14:45 — מודול 05: JSON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15:15 — מעבדה 3: לקוח REST (60 דק') · מעבדה 4 למהירים / בית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16:15 — מודול 06: ביצועים ודיבוג async, סיכום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 שמתחילים: מריצים את Day2.LocalApi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9109481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774375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395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338081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טרמינל נפרד</a:t>
            </a:r>
            <a:endParaRPr lang="he-IL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338081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Demos/Day2.LocalApi ואז dotnet run. השאירו פתוח כל היום.</a:t>
            </a:r>
            <a:endParaRPr lang="he-IL" sz="1300" dirty="0"/>
          </a:p>
        </p:txBody>
      </p:sp>
      <p:sp>
        <p:nvSpPr>
          <p:cNvPr id="8" name="Shape 5"/>
          <p:cNvSpPr/>
          <p:nvPr/>
        </p:nvSpPr>
        <p:spPr>
          <a:xfrm>
            <a:off x="6255868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20761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781" y="17602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84468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בדיקה</a:t>
            </a:r>
            <a:endParaRPr lang="he-IL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84468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http://localhost:5080/api/products — אמור להחזיר 6 מוצרים ב-JSON.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3402254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67148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168" y="17602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630854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בלי אינטרנט? בסדר</a:t>
            </a:r>
            <a:endParaRPr lang="he-IL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630854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המעבדות עובדות מול ה-API המקומי. ה-APIs הציבוריים הם תוספת.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1371600"/>
            <a:ext cx="2533574" cy="4846320"/>
          </a:xfrm>
          <a:prstGeom prst="roundRect">
            <a:avLst>
              <a:gd name="adj" fmla="val 5414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213534" y="160020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554" y="17602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77240" y="2377440"/>
            <a:ext cx="20763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6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תיעוד</a:t>
            </a:r>
            <a:endParaRPr lang="he-IL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2880360"/>
            <a:ext cx="207637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Demos/Day2.LocalApi/README.md — כל נקודות הקצה, כולל /api/slow ו-/api/flaky.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מבוא ל-Multithreading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Process, Thread, ThreadPool, race conditions, CPU מול IO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מול Thread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(תהליך)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שרצה: זיכרון משלה, קבצים, הרשאות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תהליכים לא רואים את הזיכרון זה של זה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יקר ליצור, בטוח לבודד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(תהליכון)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נתיב ביצוע בתוך תהליך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משלו — אבל Heap משותף!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קל לשתף נתונים — וקל להרוס אותם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Hello World מכיל ~10 תהליכונים (GC, JIT...)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המחלקה Thread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worker = new Thread(() =&gt;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&lt;= 3; i++)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Console.WriteLine($"[worker] step {i}");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Thread.Sleep(100);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"MyWorker",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IsBackground = true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worker.Start();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Console.WriteLine("main continues...");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worker.Join();   // חוסם עד שה-worker מסיים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מפעיל, Join מחכה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IsBackground: לא מונע מהתהליך להסתיים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Thread ≈ 1MB stack + זמן יצירה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ברוב הקוד המודרני לא ניצור Thread ידנית — נשתמש ב-Task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ThreadPool — לא ליצור, למחזר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יצירת תהליכון יקרה → .NET מחזיק בריכה של תהליכונים מוכנים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ThreadPool.QueueUserWorkItem — אבל בפועל Task.Run / Parallel / async משתמשים בו בשבילנו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הבריכה גדלה לאט (~תהליכון לשנייה) כשכולם תפוסים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חסימת תהליכוני Pool (.Result) = "הרעבה" — מודול 06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פריטי עבודה צריכים להיות קצרים; עבודה ארוכה → LongRunning / Thread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לכידת משתנה לולאה: תמיד int n = i; בתוך for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 — הבאג שלא משתחזר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counter = 0;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t1 = new Thread(() =&gt;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1_000_000; i++) counter++;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t2 = new Thread(() =&gt;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1_000_000; i++) counter++;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t1.Start(); t2.Start();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t1.Join();  t2.Join();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Console.WriteLine(counter);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expected 2,000,000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actual   1,176,871  (changes every run!)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counter++ = קריאה → הוספה → כתיבה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 תהליכונים קוראים 41, שניהם כותבים 42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התוצאה תלויה בתזמון — לא דטרמיניסטית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מופיע בבדיקות, מופיע אצל הלקוח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פתרונות במודול 03: lock, Interlocked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 מול IO-bound — ההבחנה שקובעת הכל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עיבוד תמונה, הצפנה, מיון, חישוב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המעבד עסוק — הצוואר הוא הליבות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מקביליות — Parallel.For, PLINQ, Task.Run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האצה מקסימלית = מספר הליבות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IO-bound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מסד נתונים, קבצים, Task.Delay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מחכים למשהו חיצוני — המעבד פנוי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אסינכרוניות — async/await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מאות פעולות במקביל בלי תהליכונים בכלל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Parallel.For / ForEach ו-PLINQ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squares = new int[data.Length];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Parallel.For(0, data.Length,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=&gt; squares[i] = data[i] * data[i]);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Parallel.ForEach(files,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ParallelOptions { MaxDegreeOfParallelism = 3 },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 =&gt; Process(file));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PLINQ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primes = Enumerable.Range(1, 1_500_000)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.AsParallel()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.Where(IsPrime)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.Count();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הסדר לא מובטח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אסור לכתוב ל-List/Dictionary מתוך הגוף!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מערך לפי אינדקס או אוספים מקביליים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PLINQ משתלם רק כשהעבודה על כל פריט יקרה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תמיד למדוד — Stopwatch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ו-async/await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Task&lt;T&gt;, מכונת המצבים, WhenAll, חריגות, ביטול, התקדמות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= הבטחה, לא תהליכון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— "עבודה שתסתיים מתישהו"; Task&lt;T&gt; — הבטחה לערך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Task.Run — שולח עבודת CPU ל-ThreadPool</a:t>
            </a:r>
            <a:endParaRPr lang="he-IL" sz="20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עבור IO לא צריך Task.Run — הספריות מחזירות Task בעצמן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— "כשזה יסתיים, תמשיך מכאן" — בלי לחסום תהליכון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Task.Delay במקום Thread.Sleep בקוד אסינכרוני</a:t>
            </a:r>
            <a:endParaRPr lang="he-IL" sz="20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20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Task.FromResult / Task.CompletedTask לתשובות מיידיות</a:t>
            </a:r>
            <a:endParaRPr lang="he-IL" sz="20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async/await — מה קורה באמת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Console.WriteLine("[caller] before");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task = SlowGreeting("Dana");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Console.WriteLine("[caller] got a Task, doing other work");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Console.WriteLine(await task);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async Task&lt;string&gt; SlowGreeting(string name)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Console.WriteLine("[part 1] synchronous");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Task.Delay(200);   // כאן חוזרים לקורא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Console.WriteLine("[part 2] resumed later");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$"Hello, {name}!";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[caller] before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[part 1] synchronous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[caller] got a Task, doing other work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[part 2] resumed later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Hello, Dana!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המהדר יוצר מכונת מצבים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ה-await הראשון: סינכרוני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על Task לא גמור → מחזירים Task לקורא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ההמשך רץ כשה-Task הפנימי מסתיים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ארבעת השלבים של await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11002975" y="15087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002975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עד ה-await הראשון רץ סינכרונית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התהליכון שקרא למתודה — כמו כל מתודה רגילה</a:t>
            </a:r>
            <a:endParaRPr lang="he-IL" sz="1800" dirty="0"/>
          </a:p>
        </p:txBody>
      </p:sp>
      <p:sp>
        <p:nvSpPr>
          <p:cNvPr id="6" name="Shape 4"/>
          <p:cNvSpPr/>
          <p:nvPr/>
        </p:nvSpPr>
        <p:spPr>
          <a:xfrm>
            <a:off x="11002975" y="24231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002975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317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על Task שלא הסתיים → המתודה מחזירה Task לקורא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התהליכון משוחרר לעבודות אחרות (UI, בקשות נוספות)</a:t>
            </a:r>
            <a:endParaRPr lang="he-IL" sz="1800" dirty="0"/>
          </a:p>
        </p:txBody>
      </p:sp>
      <p:sp>
        <p:nvSpPr>
          <p:cNvPr id="9" name="Shape 7"/>
          <p:cNvSpPr/>
          <p:nvPr/>
        </p:nvSpPr>
        <p:spPr>
          <a:xfrm>
            <a:off x="11002975" y="33375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002975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461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כשה-Task הפנימי מסתיים, ה-runtime מזמן את ההמשך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בקונסול: תהליכון Pool. ב-UI: תהליכון ה-UI (SynchronizationContext)</a:t>
            </a:r>
            <a:endParaRPr lang="he-IL" sz="1800" dirty="0"/>
          </a:p>
        </p:txBody>
      </p:sp>
      <p:sp>
        <p:nvSpPr>
          <p:cNvPr id="12" name="Shape 10"/>
          <p:cNvSpPr/>
          <p:nvPr/>
        </p:nvSpPr>
        <p:spPr>
          <a:xfrm>
            <a:off x="11002975" y="4251960"/>
            <a:ext cx="640080" cy="64008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002975" y="4251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60520"/>
            <a:ext cx="10180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he-IL" altLang="en-US" sz="18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מסמן את ה-Task שהוחזר כגמור</a:t>
            </a:r>
            <a:endParaRPr lang="he-IL" sz="1800" dirty="0"/>
          </a:p>
          <a:p>
            <a:pPr algn="r" indent="0" marL="0">
              <a:buNone/>
            </a:pPr>
            <a:r>
              <a:rPr lang="he-IL" alt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הקורא שעשה await עליו מתעורר</a:t>
            </a:r>
            <a:endParaRPr lang="he-IL" sz="1800" dirty="0"/>
          </a:p>
        </p:txBody>
      </p:sp>
      <p:sp>
        <p:nvSpPr>
          <p:cNvPr id="15" name="Shape 13"/>
          <p:cNvSpPr/>
          <p:nvPr/>
        </p:nvSpPr>
        <p:spPr>
          <a:xfrm>
            <a:off x="-1097280" y="4846320"/>
            <a:ext cx="2926080" cy="2926080"/>
          </a:xfrm>
          <a:prstGeom prst="ellipse">
            <a:avLst/>
          </a:prstGeom>
          <a:solidFill>
            <a:srgbClr val="512BD4">
              <a:alpha val="1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5852160"/>
            <a:ext cx="1463040" cy="1463040"/>
          </a:xfrm>
          <a:prstGeom prst="ellipse">
            <a:avLst/>
          </a:prstGeom>
          <a:solidFill>
            <a:srgbClr val="FFB020">
              <a:alpha val="25000"/>
            </a:srgbClr>
          </a:solidFill>
          <a:ln w="12700">
            <a:solidFill>
              <a:srgbClr val="FFB02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WhenAll, WhenAny ו-timeout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סדרתי: ~600 ms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a = await Fetch("a", 300);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b = await Fetch("b", 200);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 = await Fetch("c", 100);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מקבילי: ~300 ms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all = await Task.WhenAll(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Fetch("a", 300), Fetch("b", 200), Fetch("c", 100));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הראשון שמסיים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Task&lt;string&gt; winner = await Task.WhenAny(slow, fast);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timeout בשורה אחת (.NET 6+)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r = await Fetch("x", 5000)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.WaitAsync(TimeSpan.FromSeconds(1));   // TimeoutException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קודם מפעילים את כולם (בלי await), ואז WhenAll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בלולאה = סדרתי!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WhenAll על Task&lt;T&gt; מחזיר T[]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WhenAny ל"המהיר ביותר" / fallback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חריגות בקוד אסינכרוני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חריגה נשמרת בתוך ה-Task ו"מתפוצצת" ב-await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זורק את החריגה המקורית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.Wait() / .Result עוטפים ב-AggregateException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WhenAll: await זורק את הראשונה; כולן ב-task.Exception.InnerExceptions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בלי await ("fire and forget") — החריגה נבלעת בשקט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void — רק ל-event handlers!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 אפשר לחכות, אי אפשר לתפוס, מפיל את התהליך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OperationCanceledException היא לא שגיאה — לתפוס בנפרד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ביטול שיתופי: CancellationToken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cts = new CancellationTokenSource(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TimeSpan.FromSeconds(2));   // או cts.Cancel() ידנית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LongJobAsync(cts.Token);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(OperationCanceledException)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Console.WriteLine("cancelled");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async Task LongJobAsync(CancellationToken ct)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100; i++)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ct.ThrowIfCancellationRequested();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Task.Delay(100, ct);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CancellationTokenSource = השלט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CancellationToken = מה שמעבירים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הביטול שיתופי: מי שעובד בודק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כל API אסינכרוני מקבל טוקן — תמיד להעביר הלאה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Console.CancelKeyPress → cts.Cancel() ל-Ctrl+C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IProgress&lt;T&gt; ו-IAsyncEnumerable&lt;T&gt;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דיווח התקדמות</a:t>
            </a:r>
            <a:endParaRPr lang="he-IL" sz="2000" dirty="0"/>
          </a:p>
        </p:txBody>
      </p:sp>
      <p:sp>
        <p:nvSpPr>
          <p:cNvPr id="5" name="Shape 3"/>
          <p:cNvSpPr/>
          <p:nvPr/>
        </p:nvSpPr>
        <p:spPr>
          <a:xfrm>
            <a:off x="6507328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98768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progress = new Progress&lt;int&gt;(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pct =&gt; bar.Value = pct);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ProcessAsync(files, progress);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בתוך המתודה: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progress.Report(i * 100 / total);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Progress&lt;T&gt; זוכר את ה-context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-&gt; ב-WPF ה-callback על UI thread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זרם אסינכרוני</a:t>
            </a:r>
            <a:endParaRPr lang="he-IL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foreach (var page in FetchPagesAsync(ct))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Console.WriteLine(page);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async IAsyncEnumerable&lt;string&gt; FetchPagesAsync(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[EnumeratorCancellation] CancellationToken ct = default)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1; i &lt;= 10; i++)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Task.Delay(100, ct);   // "הורדת עמוד"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return $"page-{i}";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altLang="en-US" sz="1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1 — עיבוד מקבילי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את הגרסה הסדרתית — קו הבסיס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ממשו RunWhenAllAsync (CPU ב-Task.Run, IO ב-await)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ממשו Parallel.ForEach + WhenAll לאישורים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חברו Ctrl+C ל-CancellationTokenSource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הוסיפו IProgress&lt;int&gt; עם Interlocked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טבלת סיכום: זמן והאצה לכל גרסה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להשוות עיבוד הזמנות סדרתי, Task.WhenAll ו-Parallel.ForEach; להבין מתי כל כלי מתאים.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שמריצה את שלוש הגרסאות, מודדת עם Stopwatch, נעצרת ב-Ctrl+C ומציגה התקדמות.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 וניהול בטוח של משאבים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lock, Interlocked, SemaphoreSlim, אוספים מקביליים, Channel&lt;T&gt;, deadlock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הכלל: שיתוף + כתיבה = צריך סנכרון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קריאה בלבד מכמה תהליכונים — בטוחה. כתיבה אחת לצד קריאות — כבר לא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אסטרטגיה 1: לא לשתף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תהליכון עובד על נתונים משלו, מאחדים בסוף (מערך לפי אינדקס, WhenAll)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אסטרטגיה 2: לא לשנות (Immutability)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+ with — אם אף אחד לא כותב, אין מה לסנכרן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אסטרטגיה 3: הדרה הדדית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lock, Interlocked, SemaphoreSlim, אוספים מקביליים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— והטיפוס Lock החדש (C# 13)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Account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readonly Lock _lock = new();  // .NET 9+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decimal _balance;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decimal Balance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get { lock (_lock) return _balance;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bool Withdraw(decimal amount)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lock (_lock)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(_balance &lt; amount) return false;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_balance -= amount;   // בדיקה + עדכון = יחידה אחת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נועלים תמיד על אותו אובייקט פרטי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lock(this), לא lock("text")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האזור הקריטי קצר — בלי IO, בלי await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גם הקריאה בתוך lock!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 C# 12: private readonly object _lock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ארגז הכלים של הסנכרון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Interlocked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Increment, Add, Exchange, CompareExchange. אטומי ומהיר — אבל פעולה אחת על משתנה אחד.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SemaphoreSlim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נכנסים בו-זמנית. WaitAsync — הכלי היחיד שמותר בקוד async. תמיד Release ב-finally.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ReaderWriterLockSlim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הרבה קוראים יחד, כותב אחד לבד. ל-cache וקונפיגורציה.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Mutex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ברמת מערכת ההפעלה — סנכרון בין תהליכים ("מופע יחיד"). איטי; בתוך תהליך — lock.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Monitor.TryEnter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עם timeout: לא נתקעים לנצח, מדווחים או מנסים שוב.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Lazy&lt;T&gt;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אתחול עצל ובטוח פעם אחת בלבד — singleton בלי double-check locking.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SemaphoreSlim — הגבלת מקביליות בקוד async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readonly SemaphoreSlim _gate = new(3, 3);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Task DownloadAsync(string url)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_gate.WaitAsync();   // לא חוסם תהליכון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http.GetStringAsync(url);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finally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_gate.Release();       // תמיד! אחרת הכרטיס אבד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הורדות, לכל היותר 3 בו-זמנית: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Task.WhenAll(urls.Select(DownloadAsync));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"לכל היותר 3 בקשות במקביל"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מגן על שירותים עם rate limit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SemaphoreSlim(1,1) = async lock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ב-finally — חובה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אוספים מקביליים — System.Collections.Concurrent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יש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ConcurrentDictionary — GetOrAdd, AddOrUpdate, TryRemove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ConcurrentQueue / ConcurrentStack / ConcurrentBag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BlockingCollection — producer/consumer חוסם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ImmutableList / FrozenDictionary לקריאה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לזכור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Dictionary רגילים אינם בטוחים לכתיבה מקבילית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ContainsKey ואז Add = לא אטומי → GetOrAdd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ה-factory של GetOrAdd עלול לרוץ יותר מפעם אחת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לוגיקה בשני שלבים? עדיין צריך lock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Channel&lt;T&gt; — Producer/Consumer אסינכרוני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channel = Channel.CreateBounded&lt;Order&gt;(100);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Producer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producer = Task.Run(async () =&gt;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foreach (var order in ReadOrdersAsync())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channel.Writer.WriteAsync(order); // מחכה אם מלא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channel.Writer.Complete();                  // "אין עוד"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Consumers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consumers = Enumerable.Range(0, 3).Select(_ =&gt;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Task.Run(async () =&gt;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await foreach (var o in channel.Reader.ReadAllAsync())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await ProcessAsync(o);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Task.WhenAll(consumers.Append(producer));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 שכותבים וקוראים אליו עם await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= back-pressure: היצרן מחכה כשמלא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ReadAllAsync מסתיים אחרי Complete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 מצוין ל-logger — מעבדה 4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— ואיך נמנעים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T1                       // T2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(accountA)             lock (accountB)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                          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 (accountB) {...}       lock (accountA) {...}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                        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T1 holds A, waits for B; T2 holds B, waits for A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fix: a fixed lock order (always by Id)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(first, second) = from.Id &lt; to.Id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(from, to)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 (to, from);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 (first)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 (second)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Transfer(from, to, amount);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שגיאה, אין חריגה — התוכנית פשוט קופאת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נעילה גלובלי קבוע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Monitor.TryEnter עם timeout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לקרוא לקוד זר בתוך lock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2: תיצרו deadlock אמיתי ותתקנו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2 — בנק בטוח לתהליכונים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הריצו UnsafeBank — הכסף "נעלם"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LockBank: נעילה גלובלית + בדיקת יתרה אטומית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InterlockedBank: long באגורות + CompareExchange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ConcurrentBank: ConcurrentDictionary.AddOrUpdate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נעילה לכל חשבון → deadlock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 נעילה לפי Id → תיקון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לשחזר race condition בהעברות כספים, לתקן בשלוש דרכים, ליצור deadlock אמיתי ולתקן עם סדר נעילה.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מימושים של IBank שעוברים stress test של 160,000 העברות מקביליות; deadlock demo שמדגים ומתקן.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צריכת REST APIs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HTTP, REST, HttpClient, timeouts, retry, שגיאות, סודות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ב-5 דקות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GET (קרא), POST (צור), PUT (החלף), DELETE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+ query string (?status=Shipped)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Headers: Content-Type, Authorization, Accept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Body: JSON (ב-POST/PUT)</a:t>
            </a:r>
            <a:endParaRPr lang="he-I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התשובה — Status Code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2xx הצלחה: 200 OK, 201 Created, 204 No Content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4xx אשמתכם: 400, 401/403, 404, 429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5xx אשמת השרת: 500, 502, 503, 504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ו-DELETE idempotent — בטוח לנסות שוב</a:t>
            </a:r>
            <a:endParaRPr lang="he-IL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משאבים + פעלים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/api/products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המוצרים → 200 + מערך. עם ?search= לסינון.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/api/products/7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 בודד → 200 + אובייקט, או 404.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/api/products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יצירה עם body → 201 + Location header + האובייקט.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/api/products/7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עדכון מלא → 200 (או 404). PATCH לעדכון חלקי.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/api/products/7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204 No Content (או 404).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Day2.LocalApi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בדיוק המבנה הזה, על localhost:5080. פלוס /api/slow ו-/api/flaky.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 + System.Net.Http.Json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readonly HttpClient Http = new()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BaseAddress = new Uri("http://localhost:5080"),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 = TimeSpan.FromSeconds(10),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GET: מבצע, בודק סטטוס, מפענח JSON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products = await Http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.GetFromJsonAsync&lt;List&lt;Product&gt;&gt;("/api/products") ?? [];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POST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resp = await Http.PostAsJsonAsync("/api/products",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ProductInput("Webcam", 199m, "Video", 10));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resp.EnsureSuccessStatusCode();           // זורק אם לא 2xx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created = await resp.Content.ReadFromJsonAsync&lt;Product&gt;();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Console.WriteLine(resp.Headers.Location); // /api/products/7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PUT / DELETE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Http.PutAsJsonAsync($"/api/products/{id}", input);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Http.DeleteAsync($"/api/products/{id}");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מופע HttpClient אחד לכל האפליקציה!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HttpClient() בכל קריאה = דליפת sockets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ב-DI: IHttpClientFactory (יום 4)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HttpRequestMessage לשליטה מלאה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עם backoff — בלי ספרייה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attempt = 1; ; attempt++)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var resp = await http.GetAsync(url, ct);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(resp.IsSuccessStatusCode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|| !IsTransient(resp.StatusCode)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|| attempt == maxAttempts)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resp;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(HttpRequestException) when (attempt &lt; maxAttempts)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 /* הרשת נפלה לרגע */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delay = TimeSpan.FromMilliseconds(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200 * Math.Pow(2, attempt - 1));  // 200, 400, 800...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Task.Delay(delay, ct);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bool IsTransient(HttpStatusCode c) =&gt; c is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HttpStatusCode.ServiceUnavailable or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HttpStatusCode.TooManyRequests or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HttpStatusCode.GatewayTimeout;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על שגיאות זמניות: 503, 429, 502, 504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על 400/401/404 — הבעיה בבקשה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מספר ניסיונות מוגבל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השהיה שגדלה (exponential backoff)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בייצור: ספריית Polly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Timeouts ושגיאות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Http.Timeout — ברירת מחדל 100 שניות. הורידו ל-10–30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לבקשה בודדת: CancellationTokenSource(TimeSpan) או .WaitAsync()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HttpRequestException — השרת לא זמין / DNS / EnsureSuccessStatusCode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יש לה StatusCode כשהגיעה תשובה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TaskCanceledException (יורשת מ-OperationCanceledException) — timeout או ביטול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JsonException — ה-body לא מה שציפינו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הקוד חייב לעבוד גם כשהשירות לא זמין: הודעה ידידותית / ערך ברירת מחדל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404 → null, לא חריגה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סודות וכלי בדיקה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בקוד, לא ב-Git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 שנכנס ל-Git נשאר בהיסטוריה לנצח.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 user-secrets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לפיתוח: user-secrets init / set "Weather:ApiKey" "..." — נשמר מחוץ לפרויקט.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משתני סביבה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לייצור: WEATHER__APIKEY. Environment.GetEnvironmentVariable או IConfiguration.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-i -X POST url -H "Content-Type: application/json" -d "{...}"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GUI, אוספים, סביבות ומשתנים. נוח לשיתוף בצוות.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קבצי .http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REST Client / Visual Studio 2022: בקשות כטקסט בתוך הריפו.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עם System.Text.Json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/ Deserialize, options, attributes, JsonNode, Newtonsoft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Serialize / Deserialize + JsonSerializerOptions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Order(int Id, string Customer,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 CreatedAt, OrderStatus Status,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List&lt;OrderItem&gt; Items);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readonly JsonSerializerOptions Options = new()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PropertyNamingPolicy = JsonNamingPolicy.CamelCase,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PropertyNameCaseInsensitive = true,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WriteIndented = true,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Converters = { new JsonStringEnumConverter() },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json = JsonSerializer.Serialize(order, Options);</a:t>
            </a: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{"id":42,"customer":"Dana","status":"Paid",...}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altLang="en-US" sz="14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back = JsonSerializer.Deserialize&lt;Order&gt;(json, Options)!;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מובנה ב-.NET, מהיר, בלי NuGet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= DTOs מושלמים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Options אחד static — יצירה בכל קריאה יקרה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JsonSerializerOptions.Web = ברירת המחדל של ASP.NET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GetFromJsonAsync משתמש ב-Web כברירת מחדל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התאמות ברמת המאפיין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record Weather(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JsonPropertyName("temperature_2m")]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Temperature,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[property: JsonPropertyName("wind_speed_10m")]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 WindSpeed,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DateTime Time);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User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Id { get; set;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required string Name { get; set;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[JsonIgnore]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string? PasswordHash { get; set; 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[JsonIgnore(Condition = JsonIgnoreCondition.WhenWritingDefault)]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int LoginCount { get; set;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[JsonPropertyName] כשהשם ב-JSON שונה (snake_case)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ב-record: [property: ...]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[JsonIgnore] לשדות פנימיים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— חריגה אם השדה חסר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 ב-ISO 8601; decimal לכסף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שדה חסר → default; שדה עודף → מתעלמים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דינמי: JsonNode ו-JsonDocument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JsonNode — עץ שאפשר לקרוא ולשנות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JsonNode root = JsonNode.Parse(json)!;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 name = (string?)root["user"]?["name"];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temp = (double)root["current"]!["temperature_2m"]!;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root["count"] = 4;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root["user"]!["email"] = "noa@example.com";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updated = root.ToJsonString();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JsonDocument — קריאה בלבד, הכי מהיר, חובה using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JsonDocument doc = JsonDocument.Parse(json);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(JsonElement item in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doc.RootElement.GetProperty("items").EnumerateArray())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Console.WriteLine(item.GetProperty("productName").GetString());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JSON שגוי -&gt; JsonException (עם LineNumber)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 כשהמבנה ידוע — 99% מהמקרים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JsonNode לעריכה / מבנה גמיש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JsonDocument לסריקה מהירה של JSON גדול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generators: ביצועים + Native AOT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System.Text.Json מול Newtonsoft.Json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System.Text.Json</a:t>
            </a:r>
            <a:endParaRPr lang="he-IL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53048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מובנה ב-.NET (Core 3.0+)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 וחסכוני יותר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Case-sensitive כברירת מחדל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[JsonPropertyName], JsonStringEnumConverter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JsonNode / JsonDocument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generators, AOT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ברירת המחדל לקוד חדש</a:t>
            </a:r>
            <a:endParaRPr lang="he-IL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Newtonsoft.Json (Json.NET)</a:t>
            </a:r>
            <a:endParaRPr lang="he-IL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חבילת NuGet, ותיקה מאוד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סלחנית וגמישה: מחזורי הפניות, private setters, dynamic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Case-insensitive תמיד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[JsonProperty], StringEnumConverter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JObject / JToken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תפגשו אותה בהמון קוד קיים</a:t>
            </a:r>
            <a:endParaRPr lang="he-IL" sz="15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לקוד ישן או פיצ'ר ספציפי</a:t>
            </a:r>
            <a:endParaRPr lang="he-IL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3 — לקוח REST מוקלד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השלימו DTOs (Order, OrderStatus) + JsonSerializerOptions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GetProductAsync: 404 → null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(201) / Update / Delete (204)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ApiException עם StatusCode והודעת השרת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GetFlakyAsync: retry + backoff, לא על 4xx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GetSlowAsync: CancellationTokenSource(timeout) → null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לבנות ShopApiClient מעל Day2.LocalApi: DTOs, CRUD מלא, טיפול בשגיאות, retry על /api/flaky ו-timeout על /api/slow.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דקות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מחלקת לקוח שכל מתודותיה ממומשות; Program שרץ מתחילתו לסופו; הודעה ידידותית כשה-API לא רץ.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2743200"/>
            <a:ext cx="7315200" cy="7315200"/>
          </a:xfrm>
          <a:prstGeom prst="ellipse">
            <a:avLst/>
          </a:prstGeom>
          <a:solidFill>
            <a:srgbClr val="512BD4">
              <a:alpha val="28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0" dirty="0"/>
          </a:p>
        </p:txBody>
      </p:sp>
      <p:sp>
        <p:nvSpPr>
          <p:cNvPr id="4" name="Text 2"/>
          <p:cNvSpPr txBox="1"/>
          <p:nvPr/>
        </p:nvSpPr>
        <p:spPr>
          <a:xfrm>
            <a:off x="4389120" y="182880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ביצועים ודיבוג של קוד אסינכרוני</a:t>
            </a:r>
            <a:endParaRPr lang="he-IL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33832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sync-over-async, ConfigureAwait, מדידה, כלי הדיבוג ב-VS, ILogger</a:t>
            </a:r>
            <a:endParaRPr lang="he-IL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הבאג מספר 1: Sync-over-Async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WPF — הכפתור קופא לנצח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Button_Click(object sender, RoutedEventArgs e)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data = LoadAsync().Result;  // 1. UI thread חסום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textBlock.Text = data;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Task&lt;string&gt; LoadAsync()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Task.Delay(1000);          // 2. ההמשך צריך את ה-UI thread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"done";                   // 3. ...שחסום ב-.Result. deadlock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התיקון: async all the way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async void Button_Click(object sender, RoutedEventArgs e)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textBlock.Text = await LoadAsync();</a:t>
            </a:r>
            <a:endParaRPr lang="en-US" sz="1200" dirty="0"/>
          </a:p>
          <a:p>
            <a:pPr algn="l" indent="0" marL="0">
              <a:buNone/>
            </a:pPr>
            <a:r>
              <a:rPr lang="en-US" altLang="en-US" sz="12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.Result / .Wait() / GetAwaiter().GetResult()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חוסמים תהליכון — ובשרת: הרעבת ThreadPool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ב-UI: deadlock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בקונסול / ASP.NET Core אין deadlock — אבל עדיין חסימה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Task Main, async void רק ב-handler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ConfigureAwait, Task.Run והרעבה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ConfigureAwait(false) — "לא אכפת לי לאיזה תהליכון לחזור"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בספריות: על כל await. באפליקציה (WPF/קונסול/ASP.NET Core): לא צריך, ב-UI אף יזיק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Task.Run — רק לעבודת CPU מה-UI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סביב IO, לא בשרת, לא כ"תיקון" ל-deadlock, לא בספרייה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הרעבת ThreadPool: latency עולה, CPU נמוך, תהליכונים מטפסים לאט</a:t>
            </a:r>
            <a:endParaRPr lang="he-IL" sz="1800" dirty="0"/>
          </a:p>
          <a:p>
            <a:pPr algn="r" lvl="1" marL="508000" indent="-254000">
              <a:spcAft>
                <a:spcPts val="400"/>
              </a:spcAft>
              <a:buSzPct val="100000"/>
              <a:buChar char="•"/>
            </a:pPr>
            <a:r>
              <a:rPr lang="he-IL" altLang="en-US" sz="15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הפתרון: להסיר חסימות. SetMinThreads הוא טיפול בסימפטום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למדוד לפני שמייעלים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מדידה: Stopwatch, dotnet-counters, BenchmarkDotNet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6324448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53048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</a:t>
            </a:r>
            <a:endParaRPr lang="he-IL" sz="2000" dirty="0"/>
          </a:p>
        </p:txBody>
      </p:sp>
      <p:sp>
        <p:nvSpPr>
          <p:cNvPr id="5" name="Shape 3"/>
          <p:cNvSpPr/>
          <p:nvPr/>
        </p:nvSpPr>
        <p:spPr>
          <a:xfrm>
            <a:off x="6507328" y="2103120"/>
            <a:ext cx="4952848" cy="3931920"/>
          </a:xfrm>
          <a:prstGeom prst="roundRect">
            <a:avLst>
              <a:gd name="adj" fmla="val 2326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98768" y="2194560"/>
            <a:ext cx="4769968" cy="3749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sw = Stopwatch.StartNew();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ProcessAllAsync();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sw.Stop();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$"{sw.ElapsedMilliseconds} ms");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לא DateTime.Now!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כמה ריצות, חימום, Release build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ThreadPool.ThreadCount);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</a:t>
            </a:r>
            <a:endParaRPr lang="en-US" sz="1500" dirty="0"/>
          </a:p>
          <a:p>
            <a:pPr algn="l" indent="0" marL="0">
              <a:buNone/>
            </a:pPr>
            <a:r>
              <a:rPr lang="en-US" altLang="en-US" sz="15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ThreadPool.PendingWorkItemCount);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5318608" cy="4846320"/>
          </a:xfrm>
          <a:prstGeom prst="roundRect">
            <a:avLst>
              <a:gd name="adj" fmla="val 2830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08760"/>
            <a:ext cx="486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20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כלים</a:t>
            </a:r>
            <a:endParaRPr lang="he-IL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486140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dotnet-counters monitor -p &lt;pid&gt; — ThreadPool count, queue length, GC, חריגות בזמן אמת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BenchmarkDotNet — השוואות micro מדויקות עם סטטיסטיקה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תור שגדל + תהליכונים שמטפסים לאט = הרעבה</a:t>
            </a:r>
            <a:endParaRPr lang="he-IL" sz="17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7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למדוד ב-Release, לא ב-Debug</a:t>
            </a:r>
            <a:endParaRPr lang="he-IL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דיבוג async ב-Visual Studio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8158277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911535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7265" y="17259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86877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Call Stacks</a:t>
            </a:r>
            <a:endParaRPr lang="he-IL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386877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ה-Call Stack מציג את השרשרת הלוגית גם כשהתהליכון התחלף. כבו "Show external code".</a:t>
            </a:r>
            <a:endParaRPr lang="he-IL" sz="1200" dirty="0"/>
          </a:p>
        </p:txBody>
      </p:sp>
      <p:sp>
        <p:nvSpPr>
          <p:cNvPr id="8" name="Shape 5"/>
          <p:cNvSpPr/>
          <p:nvPr/>
        </p:nvSpPr>
        <p:spPr>
          <a:xfrm>
            <a:off x="4353458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06717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447" y="172593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2058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window</a:t>
            </a:r>
            <a:endParaRPr lang="he-IL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82058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Ctrl+Shift+D, K — כל ה-Tasks: Scheduled / Running / Awaiting / Blocked / Deadlocked.</a:t>
            </a:r>
            <a:endParaRPr lang="he-IL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137160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301898" y="160020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628" y="172593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22402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Stacks</a:t>
            </a:r>
            <a:endParaRPr lang="he-IL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274320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Ctrl+Shift+D, S — תרשים של כל התהליכונים וה-Tasks ומי מחכה למי.</a:t>
            </a:r>
            <a:endParaRPr lang="he-IL" sz="1200" dirty="0"/>
          </a:p>
        </p:txBody>
      </p:sp>
      <p:sp>
        <p:nvSpPr>
          <p:cNvPr id="18" name="Shape 13"/>
          <p:cNvSpPr/>
          <p:nvPr/>
        </p:nvSpPr>
        <p:spPr>
          <a:xfrm>
            <a:off x="8158277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911535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7265" y="430911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86877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 window</a:t>
            </a:r>
            <a:endParaRPr lang="he-IL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Ctrl+Alt+H — להקפיא (Freeze) תהליכון ולשחזר race conditions.</a:t>
            </a:r>
            <a:endParaRPr lang="he-IL" sz="1200" dirty="0"/>
          </a:p>
        </p:txBody>
      </p:sp>
      <p:sp>
        <p:nvSpPr>
          <p:cNvPr id="23" name="Shape 17"/>
          <p:cNvSpPr/>
          <p:nvPr/>
        </p:nvSpPr>
        <p:spPr>
          <a:xfrm>
            <a:off x="4353458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106717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447" y="4309110"/>
            <a:ext cx="251460" cy="2514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2058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Breakpoint מותנה</a:t>
            </a:r>
            <a:endParaRPr lang="he-IL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82058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Thread.CurrentThread.ManagedThreadId == 7 — לעצור רק בתהליכון מסוים.</a:t>
            </a:r>
            <a:endParaRPr lang="he-IL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3954780"/>
            <a:ext cx="3484778" cy="2263140"/>
          </a:xfrm>
          <a:prstGeom prst="roundRect">
            <a:avLst>
              <a:gd name="adj" fmla="val 6061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301898" y="4183380"/>
            <a:ext cx="502920" cy="50292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628" y="4309110"/>
            <a:ext cx="251460" cy="2514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7240" y="482346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he-IL" altLang="en-US" sz="15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</a:t>
            </a:r>
            <a:endParaRPr lang="he-IL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777240" y="5326380"/>
            <a:ext cx="30275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2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stacks ו-Threads כן; Tasks window אין.</a:t>
            </a:r>
            <a:endParaRPr lang="he-IL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צ'קליסט באגים נפוצים</a:t>
            </a:r>
            <a:endParaRPr lang="he-IL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474720" y="1371600"/>
            <a:ext cx="8168335" cy="47548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החלון קופא → .Result על UI thread → await עד למעלה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"עובד בדיבאג, נכשל בריצה" → race condition → lock / Interlocked / Concurrent*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חריגה נעלמת → Task בלי await / async void → await הכל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הכל סדרתי למרות async → await בלולאה → לאסוף Tasks ואז WhenAll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ObjectDisposedException אחרי await → using שנסגר מוקדם / HttpClient ב-using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ביטול נרשם כשגיאה → catch (Exception) בולע OperationCanceledException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לא מתעדכן אחרי await → ConfigureAwait(false) בקוד UI</a:t>
            </a:r>
            <a:endParaRPr lang="he-IL" sz="180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1828800" cy="1828800"/>
          </a:xfrm>
          <a:prstGeom prst="ellipse">
            <a:avLst/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34640"/>
            <a:ext cx="914400" cy="9144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לוגים: ILogger במקום Console.WriteLine</a:t>
            </a:r>
            <a:endParaRPr lang="he-IL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7223760" cy="4846320"/>
          </a:xfrm>
          <a:prstGeom prst="roundRect">
            <a:avLst>
              <a:gd name="adj" fmla="val 226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6858000" cy="4617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Microsoft.Extensions.Logging;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var factory = LoggerFactory.Create(b =&gt; b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.AddSimpleConsole(o =&gt; o.TimestampFormat = "HH:mm:ss.fff ")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.SetMinimumLevel(LogLevel.Debug));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ILogger logger = factory.CreateLogger("Dashboard");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logger.LogInformation("fetching {Source} (attempt {Attempt})",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"weather", 2);              // structured — לא $"..."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 await FetchAsync(); }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(HttpRequestException ex)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logger.LogWarning(ex, "fetch failed for {Source}", "weather");</a:t>
            </a:r>
            <a:endParaRPr lang="en-US" sz="1300" dirty="0"/>
          </a:p>
          <a:p>
            <a:pPr algn="l" indent="0" marL="0">
              <a:buNone/>
            </a:pPr>
            <a:r>
              <a:rPr lang="en-US" altLang="en-US" sz="13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1371600"/>
            <a:ext cx="350489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רמות: Trace…Critical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קטגוריה לכל מחלקה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תבנית {Name} שומרת את הפרמטרים כשדות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interpolation מאבד את המבנה</a:t>
            </a:r>
            <a:endParaRPr lang="he-IL" sz="16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במעבדה 4: logger על Channel&lt;T&gt; — אותו רעיון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3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5835" y="6172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65760"/>
            <a:ext cx="100885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200" b="1" dirty="0">
                <a:solidFill>
                  <a:srgbClr val="1B1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מעבדה 4 — לוח בקרה אסינכרוני</a:t>
            </a:r>
            <a:endParaRPr lang="he-IL" sz="3200" dirty="0"/>
          </a:p>
        </p:txBody>
      </p:sp>
      <p:sp>
        <p:nvSpPr>
          <p:cNvPr id="5" name="Shape 2"/>
          <p:cNvSpPr/>
          <p:nvPr/>
        </p:nvSpPr>
        <p:spPr>
          <a:xfrm>
            <a:off x="4693615" y="1371600"/>
            <a:ext cx="6949440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22215" y="15087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המשימות</a:t>
            </a:r>
            <a:endParaRPr lang="he-IL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922215" y="2011680"/>
            <a:ext cx="6492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מקורות מול ה-API המקומי + WeatherSource עם timeout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FetchSafeAsync&lt;T&gt; — כישלון הופך ל-SourceResult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הפעלה במקביל + Task.WhenAll; זמן = המקור האיטי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עצרו את ה-API באמצע — הלוח ממשיך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PeriodicTimer + Ctrl+C + --once</a:t>
            </a:r>
            <a:endParaRPr lang="he-IL" sz="1600" dirty="0"/>
          </a:p>
          <a:p>
            <a:pPr algn="r"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he-IL" altLang="en-US" sz="16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ChannelLogger: TryWrite, pump ל-stderr, DisposeAsync</a:t>
            </a:r>
            <a:endParaRPr lang="he-IL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37160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87775" y="155448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075" y="16687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" y="155448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המטרה</a:t>
            </a:r>
            <a:endParaRPr lang="he-IL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05740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לוח בקרה בקונסול שמושך 4 מקורות במקביל (API מקומי + Open-Meteo), שורד כשלים חלקיים, מתרענן כל N שניות עד Ctrl+C, ורושם לוגים דרך Channel&lt;T&gt;.</a:t>
            </a:r>
            <a:endParaRPr lang="he-IL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7848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87775" y="326136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2075" y="337566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" y="326136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משך</a:t>
            </a:r>
            <a:endParaRPr lang="he-IL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6428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דקות (למהירים / בית)</a:t>
            </a:r>
            <a:endParaRPr lang="he-IL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785360"/>
            <a:ext cx="3779215" cy="1432560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87775" y="4968240"/>
            <a:ext cx="457200" cy="457200"/>
          </a:xfrm>
          <a:prstGeom prst="ellipse">
            <a:avLst/>
          </a:prstGeom>
          <a:solidFill>
            <a:srgbClr val="512BD4"/>
          </a:solidFill>
          <a:ln w="12700">
            <a:solidFill>
              <a:srgbClr val="512BD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2075" y="5082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" y="4968240"/>
            <a:ext cx="27733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1400" b="1" dirty="0">
                <a:solidFill>
                  <a:srgbClr val="512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תוצר</a:t>
            </a:r>
            <a:endParaRPr lang="he-IL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5471160"/>
            <a:ext cx="341345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300" dirty="0">
                <a:solidFill>
                  <a:srgbClr val="1F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שמציגה טבלה עם 4 מקורות, OK/FAILED ומשך לכל אחד; ממשיכה לעבוד כשמקור נופל; נעצרת נקי.</a:t>
            </a:r>
            <a:endParaRPr lang="he-IL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2743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0" dirty="0">
                <a:solidFill>
                  <a:srgbClr val="FFB020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0000" dirty="0"/>
          </a:p>
        </p:txBody>
      </p:sp>
      <p:sp>
        <p:nvSpPr>
          <p:cNvPr id="3" name="Text 1"/>
          <p:cNvSpPr txBox="1"/>
          <p:nvPr/>
        </p:nvSpPr>
        <p:spPr>
          <a:xfrm>
            <a:off x="2286000" y="1645920"/>
            <a:ext cx="93570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is not about making things faster. It is about not wasting threads while you wait.</a:t>
            </a:r>
            <a:endParaRPr lang="he-IL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4663440"/>
            <a:ext cx="9357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800" dirty="0">
                <a:solidFill>
                  <a:srgbClr val="CFC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כלל אצבע לקוד אסינכרוני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512BD4">
              <a:alpha val="30000"/>
            </a:srgbClr>
          </a:solidFill>
          <a:ln w="12700">
            <a:solidFill>
              <a:srgbClr val="512BD4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he-IL" alt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סיכום יום 2</a:t>
            </a:r>
            <a:endParaRPr lang="he-IL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1828800"/>
            <a:ext cx="8351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יקר, ThreadPool ממחזר, Task הוא הבטחה — await לא חוסם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CPU-bound → Parallel / Task.Run; IO-bound → async/await + WhenAll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שיתוף + כתיבה = סנכרון: lock, Interlocked, SemaphoreSlim, Concurrent*, Channel&lt;T&gt;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נמנע בסדר נעילה; sync-over-async נמנע ב-async all the way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HttpClient אחד, timeout תמיד, retry רק על שגיאות זמניות, סודות מחוץ לקוד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System.Text.Json: options סטטי, records כ-DTOs, camelCase + enum כמחרוזת</a:t>
            </a:r>
            <a:endParaRPr lang="he-IL" sz="1800" dirty="0"/>
          </a:p>
          <a:p>
            <a:pPr algn="r" marL="342900" indent="-342900">
              <a:spcAft>
                <a:spcPts val="800"/>
              </a:spcAft>
              <a:buSzPct val="100000"/>
              <a:buChar char="•"/>
            </a:pPr>
            <a:r>
              <a:rPr lang="he-IL" alt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מחר: WPF ו-Windows Forms — ושם async/await פוגש את ה-UI thread</a:t>
            </a:r>
            <a:endParaRPr lang="he-IL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60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שיעורי בית: לסיים את מעבדה 4 · לעבור על Exercises/README.md · שאלות בערוץ הקורס</a:t>
            </a:r>
            <a:endParaRPr lang="he-IL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071055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he-IL" alt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C# ב-.NET — קורס מעשי  |  יום 2</a:t>
            </a:r>
            <a:endParaRPr lang="he-IL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9F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יום 2 — Multithreading, Async ו-APIs</dc:title>
  <dc:subject>PptxGenJS Presentation</dc:subject>
  <dc:creator>PptxGenJS</dc:creator>
  <cp:lastModifiedBy>PptxGenJS</cp:lastModifiedBy>
  <cp:revision>1</cp:revision>
  <dcterms:created xsi:type="dcterms:W3CDTF">2026-09-27T23:33:00Z</dcterms:created>
  <dcterms:modified xsi:type="dcterms:W3CDTF">2026-09-27T23:33:00Z</dcterms:modified>
</cp:coreProperties>
</file>