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</p:sldIdLst>
  <p:notesMasterIdLst>
    <p:notesMasterId r:id="rId5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notesMaster" Target="notesMasters/notesMaster1.xml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ברוכים הבאים ליום 3. היום עוברים מקונסולה לחלונות אמיתיים. נזכיר שהכל בנוי על יום 1 (מחלקות, LINQ) ויום 2 (async, HttpClient, JSON). המסר המרכזי: ה-UI הוא קליפה מעל הקוד שכבר כתבתם.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הפסקות ב-10:45 וב-15:25, צהריים 12:45–13:30. Lab 3 ו-Lab 4 לבחירה בסוף היום, השני כשיעורי בית. תרגילים קצרים בתיקיית Exercises.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שבע מטרות = שבעה מודולים. הדגישו שכל מטרה נתמכת בדמו ובמעבדה. לא צריך לזכור הכל — צריך לדעת איפה לחפש ב-Notes.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מודול קצר של הקשר: מה קיים, מה נבחר ולמה. הדמו: Day3.Demo.HelloWpf.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טבלת ההשוואה המלאה ב-Notes/01. שאלו את הכיתה מי עבד עם מה. הדגישו ש-WinForms ו-WPF הן הוותיקות ולכן היציבות ביותר עם הכי הרבה חומר ברשת.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הנקודה על AI היא חשובה להמשך הקורס: XAML הוא טקסט מובנה, ולכן ביום 4 נראה איך כלי AI כותבים ומתקנים אותו. WinForms לא נזנח — יש לו מקום ברור.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הראו יצירה מה-CLI ומ-VS. הסבירו את ההבדל בין net10.0 ל-net10.0-windows. ציינו שבמאגר הקורס כל הפרויקטים מכילים EnableWindowsTargeting כדי שייבנו ב-CI.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זה השקף החשוב של המודול. הסבירו את הקסם של partial: ה-XAML מקומפל לקובץ g.cs שמכיל את InitializeComponent והשדות. שכחת InitializeComponent = חלון ריק. הדמו HelloWpf מראה גם Greeter כמחלקה נפרדת מה-UI.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אל תעמיקו יותר מדי — הכל יחזור בהקשר במודולים הבאים. המטרה: שיוכלו לקרוא XAML. הראו ב-HelloWpf את ה-Style ב-Window.Resources וה-Brush ב-App.Resources.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הדגימו Hot Reload חי אם יש Windows בכיתה: שנו Margin ותראו את החלון משתנה. ה-Output window יחזור במודול 04 — שגיאת binding לא מפילה את התוכנית.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הדמו: Day3.Demo.Layouts עם TabControl לכל panel. שינוי גודל החלון מדגים את הפריסה האדפטיבית.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הסבירו star sizing עם דוגמה מספרית: 2* ו-* = שני שליש ושליש. attached property = property שההורה מצמיד לילד. הראו ב-Layouts demo את הטאב Grid ושנו את גודל החלון.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שאלה טובה: "מה ה-root של חלון טיפוסי?" — DockPanel או Grid, אף פעם לא StackPanel. הראו את הטאב Panels בדמו.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כלל אצבע: אל תקבעו Width/Height אלא אם חייבים. Visibility.Collapsed כמעט תמיד. Border הוא הבסיס לכל "כרטיס" ב-UI מודרני.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טבלה מלאה ב-Notes/02. הדגישו ש-Content של Button יכול להיות כל דבר, ו-IsChecked הוא nullable. הראו את הטאב Controls בדמו — כולל ElementName binding בין Slider ל-ProgressBar בלי קוד.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הראו את הטאב Responsive בדמו: הצרו את החלון מתחת ל-600px. ציינו את ה-guard "רק כשחוצים את הסף" בקוד. ScrollViewer סביב DataGrid מבטל וירטואליזציה — טעות נפוצה.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זה ממשיך ישירות מיום 2. הדגימו את הכפתור "Block UI (bad!)" ב-Day3.Demo.AsyncUi ונסו להזיז את החלון. .Result/.Wait על ה-UI thread = deadlock. Dispatcher יורחב במודול 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Starter ב-Labs/Lab1-UnitConverter/Starter. עברו בכיתה על ה-TODO-ים בסדר. נקודות למעקב: IsLoaded guard ב-Convert (SelectionChanged נורה בבנאי), ו-CultureInfo בפרסור.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הדמו: Day3.Demo.Events — יומן אירועים שמראה את סדר tunneling/bubbling.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קשרו ל-delegates מיום 1: אירוע הוא delegate multicast. דליפת הזיכרון הקלאסית: service סטטי שמחזיק handler של חלון. הסירו ב-Closed.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הריצו את הדמו ולחצו על Button A ואז Button B — היומן מראה Preview ב-Border, Click בכפתור, ואז Click מבעבע ל-Border (רק עבור A). תרגיל 2 (keypad) משתמש בדיוק בזה.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SelectionChanged שנורה בבנאי הוא הבאג הראשון שכולם פוגשים. Closing עם MessageBox YesNo — הראו בדמו: הקלידו משהו, סגרו, ראו את השאלה.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זו המחלקה שנשתמש בה כל היום. הדגישו את ההבדל מ-Click + IsEnabled ידני: אי אפשר לשכוח לעדכן. טבלת "אירוע או Command" ב-Notes/03.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System.Timers.Timer מפעיל callback ב-thread pool — נגיעה בפקד משם זורקת חריגה. תרגיל 6 (stopwatch) ו-Lab 4 (dashboard) משתמשים ב-DispatcherTimer. Debounce לחיפוש — קוד מלא ב-Notes/03.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הדמו: Day3.Demo.Binding — רשימת משימות עם פאנל פרטים, converters ו-RelativeSource.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הדגישו את הנקודה האחרונה שוב: שגיאת כתיב ב-Path משאירה שדה ריק בשקט. UpdateSourceTrigger=PropertyChanged נחוץ כשרוצים CanExecute חי על TextBox.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כתבו את המחלקה הזו פעם אחת והעתיקו לכל פרויקט. השאלה שתמיד עולה: למה property מחושב לא מתעדכן? כי אין מי שיודיע עליו. הראו Summary בדמו.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שני מקורות הודעה: האוסף (Add/Remove) והפריט (INotifyPropertyChanged). CheckBox ב-template מדגים TwoWay לתוך הפריט. RelativeSource מבלבל — ציירו את עץ ה-DataContext על הלוח.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תרגיל 9 בונה שני converters. הזכירו ש-StringFormat עובד רק כשהיעד string — ל-Content של Button צריך converter או ContentStringFormat.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זו התבנית של Labs 2–4. אל תהפכו את זה לדת: "lite" אומר פרגמטי. הכלל היחיד שלא מתפשרים עליו: ה-VM לא מכיר פקדים.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CommunityToolkit.Mvvm של Microsoft מייצר בקומפילציה את מה שכתבנו ידנית. בקורס נשארים ידניים כדי להבין ולבנות ללא רשת; בפרויקט אמיתי — קחו את ה-toolkit.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הדמו: Day3.Demo.AsyncUi. כאן מתחבר הקוד של יום 2 (HttpClient + JSON) לחלון.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קשרו ל-Lab 3 שבו יש בדיוק את המבנה הזה. שאלו: איפה בונים את ה-service הקונקרטי? רק ב-composition root. בפרויקט גדול — Microsoft.Extensions.DependencyInjection עובד גם ב-WPF.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כל פעולה ארוכה צריכה את שלושתם. ה-timeout ב-CTS הוא בונוס נחמד. הדגימו ב-AsyncUi: Load, Cancel באמצע, ו-Simulate errors.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הכפתור "Background thread → Dispatcher" בדמו. הגרסה עם await Task.Run היא כמעט תמיד הנכונה — Dispatcher.Invoke נשאר ל-callbacks שאין לכם שליטה עליהם.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תפסו חריגות ספציפיות (HttpRequestException, JsonException, IOException) ורק בסוף Exception. הפרדה: הודעה ידידותית למשתמש, פרטים טכניים ללוג.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 2 שומר אנשי קשר באותה דרך. הטריק של Closing אסינכרוני חשוב: .GetAwaiter().GetResult() ב-Closing = deadlock. הפתרון מוסבר ב-NOTES של Lab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הדמו: Day3.Demo.Validation — שלושה טאבים: ValidationRule, INotifyDataErrorInfo, Dialogs.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IDataErrorInfo הוא הממשק הישן (string this[string]) — עדיין נתמך. Lab 2 משתמש ב-INotifyDataErrorInfo דרך ValidatableObject. תרגיל 11 — ValidationRule.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זה ה-TODO המרכזי ב-Lab 2. השאלה: מה ההבדל מ-ValidationRule? כאן ה-VM יודע שיש שגיאה — ולכן CanExecute יכול להשבית את Save.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ה-Style הזה ב-App.xaml משרת את כל ה-TextBox-ים באפליקציה. הטאב הראשון בדמו מראה PreviewTextInput שחוסם אותיות — אבל Ctrl+V עדיין מכניס, לכן צריך גם TryParse.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הטאב Dialogs בדמו. Owner חשוב פעמיים: מרכוז וחסימה נכונה, ובלי Owner ה-MessageBox עלול להיפתח מאחורי החלון.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תנו לסטודנטים דקה לעבור על Lab 1 שלהם בלי עכבר. מי שנתקע — יש לו באג נגישות. ההודעות בשפת המשתמש: "מה, איפה, מה לעשות".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המעבדה הארוכה של היום. חלקו לחלקים א–ה לפי ה-README ועצרו אחרי כל חלק לבדיקה משותפת. הנקודות הקשות: RelativeSource לפקודות מתוך הטופס, ו-Closing אסינכרוני.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מודול קצר ומעשי לפני Lab 4. הדמו: Day3.Demo.WinForms.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מי שמתחיל מהליטוש נשאר עם כפתור יפה ובלי אפליקציה. ה-wireframe של Lab 4 הוא ASCII ב-README.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זה בדיוק מה ש-Lab 4 בונה (בונוס theme). ספריות כמו MaterialDesignInXAML עובדות באותה טכניקה. תרגיל 12 עושה גרסה מוקטנת עם Resources[...] על החלון.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הבאג הקלאסי: property רגילה ב-UserControl, Value="{Binding X}" ושום דבר לא קורה. הסבירו למה ElementName=Root: הפקד לא "גונב" את ה-DataContext של ההורה.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בקורס לא תלויים בספריות UI כדי שהכל ייבנה ללא רשת — אבל לפרוטוטייפ שצריך להרשים זה קיצור דרך אדיר. הראו screenshot מהאתר של אחת מהן אם יש אינטרנט.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הדמו בנוי בקוד בלי Designer כדי להראות את המודל. ב-VS: גוררים, לוחצים פעמיים על הכפתור, כותבים. TableLayoutPanel = ה-Grid של WinForms. תנו למרצה לבחור אם להרחיב.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הטיזר ליום 4. הדגישו: שגיאת binding לא מפילה את התוכנית — לכן דווקא עם AI חשוב להבין מה נכון. כל מה שלמדנו היום הוא הבסיס לבדיקת קוד שנוצר.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המעבדה עובדת בלי שרת בזכות ה-Fake. מי שהריץ את Day2.LocalApi יראה נתונים אמיתיים. ה-Fake ה"נכשל" ב-ComboBox מדגים Retry.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עבדו עם Hot Reload פתוח. הסוד: המבנה (Border-ים אפורים) קודם, ליטוש אחר כך. שאלה לדיון בסוף: מה היה קורה עם System.Timers.Timer במקום DispatcherTimer?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עברו מהר — כל אחת מופיעה בהרחבה ב"טעויות נפוצות" של המודול המתאים. בקשו מהכיתה להוסיף טעות שהם עשו היום.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סגרו עם החזרה למסר הפותח: ה-UI הוא קליפה מעל הקוד של ימים 1–2. הזכירו את Exercises/README.md ואת NOTES.md בכל Solution. שאלות פתוחות — לפורום הקורס.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image" Target="../media/image-4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image" Target="../media/image-5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image" Target="../media/image-5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2286000"/>
            <a:ext cx="6400800" cy="6400800"/>
          </a:xfrm>
          <a:prstGeom prst="ellipse">
            <a:avLst/>
          </a:prstGeom>
          <a:solidFill>
            <a:srgbClr val="512BD4">
              <a:alpha val="30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71600" y="3200400"/>
            <a:ext cx="4114800" cy="4114800"/>
          </a:xfrm>
          <a:prstGeom prst="ellipse">
            <a:avLst/>
          </a:prstGeom>
          <a:solidFill>
            <a:srgbClr val="7C5CE6">
              <a:alpha val="25000"/>
            </a:srgbClr>
          </a:solidFill>
          <a:ln w="12700">
            <a:solidFill>
              <a:srgbClr val="7C5CE6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1148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FFB020">
                    <a:alpha val="8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}</a:t>
            </a:r>
            <a:endParaRPr lang="en-US" sz="150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00584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</a:t>
            </a:r>
            <a:endParaRPr lang="he-IL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120640" y="1645920"/>
            <a:ext cx="6492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יום 3 — פיתוח GUI מהיר</a:t>
            </a:r>
            <a:endParaRPr lang="he-IL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3749040"/>
            <a:ext cx="6492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2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WPF, XAML, אירועים, Data Binding, חיבור ל-backend, ולידציה ופרוטוטייפינג</a:t>
            </a:r>
            <a:endParaRPr lang="he-IL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52120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09:00–16:30 | 7 מודולים | 4 מעבדות</a:t>
            </a:r>
            <a:endParaRPr lang="he-IL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לוח הזמנים להיום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09:15 — מודול 01: מבוא ל-GUI, WPF מול WinForms, XAML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10:00 — מודול 02: פריסה, פקדים, UI רספונסיבי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11:00 — Lab 1: Unit Converter (45 דק')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11:45 — מודולים 03–04: אירועים, Data Binding ו-MVVM-lite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13:30 — מודולים 05–06: חיבור ל-backend, ולידציה ו-UX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14:10 — Lab 2: Contacts Manager (75 דק')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15:35 — מודול 07: פרוטוטייפינג מהיר, ואז Lab 3 / Lab 4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תדעו בסוף היום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לבחור טכנולוגיית UI ב-.NET ולהסביר למה WPF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לכתוב XAML: פריסה, פקדים, משאבים, Styles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לבנות UI רספונסיבי שלא קופא (async, Dispatcher)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לתכנת מונחה-אירועים: routed events, ICommand, קיצורים, timers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binding + MVVM-lite: INotifyPropertyChanged, ObservableCollection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לחבר GUI ל-services עם התקדמות, ביטול ושגיאות ידידותיות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לאמת קלט, להשתמש בדיאלוגים, ולבנות פרוטוטייפ תוך שעה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2743200"/>
            <a:ext cx="7315200" cy="7315200"/>
          </a:xfrm>
          <a:prstGeom prst="ellipse">
            <a:avLst/>
          </a:prstGeom>
          <a:solidFill>
            <a:srgbClr val="512BD4">
              <a:alpha val="2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1887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82880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מבוא ל-GUI ב-.NET</a:t>
            </a:r>
            <a:endParaRPr lang="he-IL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338328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WinForms, WPF, WinUI, MAUI, Avalonia — ולמה WPF</a:t>
            </a:r>
            <a:endParaRPr lang="he-IL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הנוף: טכנולוגיות UI ב-.NET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8158277" y="137160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911535" y="160020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7265" y="1725930"/>
            <a:ext cx="251460" cy="251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86877" y="224028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WinForms (2002)</a:t>
            </a:r>
            <a:endParaRPr lang="he-IL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386877" y="274320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בלבד. מעצב גרפי drag &amp; drop. כלים פנימיים, מערכות ותיקות.</a:t>
            </a:r>
            <a:endParaRPr lang="he-IL" sz="1200" dirty="0"/>
          </a:p>
        </p:txBody>
      </p:sp>
      <p:sp>
        <p:nvSpPr>
          <p:cNvPr id="8" name="Shape 5"/>
          <p:cNvSpPr/>
          <p:nvPr/>
        </p:nvSpPr>
        <p:spPr>
          <a:xfrm>
            <a:off x="4353458" y="137160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06717" y="160020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2447" y="172593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82058" y="224028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WPF (2006)</a:t>
            </a:r>
            <a:endParaRPr lang="he-IL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82058" y="274320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Windows. XAML + data binding + MVVM. אפליקציות עסקיות עשירות.</a:t>
            </a:r>
            <a:endParaRPr lang="he-IL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137160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301898" y="160020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7628" y="172593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77240" y="224028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WinUI 3</a:t>
            </a:r>
            <a:endParaRPr lang="he-IL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274320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10/11. XAML מודרני, מראה Fluent. אפליקציות חדשות.</a:t>
            </a:r>
            <a:endParaRPr lang="he-IL" sz="1200" dirty="0"/>
          </a:p>
        </p:txBody>
      </p:sp>
      <p:sp>
        <p:nvSpPr>
          <p:cNvPr id="18" name="Shape 13"/>
          <p:cNvSpPr/>
          <p:nvPr/>
        </p:nvSpPr>
        <p:spPr>
          <a:xfrm>
            <a:off x="8158277" y="395478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10911535" y="418338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7265" y="430911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86877" y="48234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.NET MAUI</a:t>
            </a:r>
            <a:endParaRPr lang="he-IL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8386877" y="532638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Windows, macOS, iOS, Android. אפליקציה אחת לכל הפלטפורמות.</a:t>
            </a:r>
            <a:endParaRPr lang="he-IL" sz="1200" dirty="0"/>
          </a:p>
        </p:txBody>
      </p:sp>
      <p:sp>
        <p:nvSpPr>
          <p:cNvPr id="23" name="Shape 17"/>
          <p:cNvSpPr/>
          <p:nvPr/>
        </p:nvSpPr>
        <p:spPr>
          <a:xfrm>
            <a:off x="4353458" y="395478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7106717" y="418338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2447" y="4309110"/>
            <a:ext cx="251460" cy="25146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582058" y="48234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Avalonia</a:t>
            </a:r>
            <a:endParaRPr lang="he-IL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4582058" y="532638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קהילתי. Windows/macOS/Linux/web. XAML דומה מאוד ל-WPF.</a:t>
            </a:r>
            <a:endParaRPr lang="he-IL" sz="1200" dirty="0"/>
          </a:p>
        </p:txBody>
      </p:sp>
      <p:sp>
        <p:nvSpPr>
          <p:cNvPr id="28" name="Shape 21"/>
          <p:cNvSpPr/>
          <p:nvPr/>
        </p:nvSpPr>
        <p:spPr>
          <a:xfrm>
            <a:off x="548640" y="395478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3301898" y="418338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7628" y="4309110"/>
            <a:ext cx="251460" cy="25146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77240" y="48234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כולן חיות ב-.NET 10</a:t>
            </a:r>
            <a:endParaRPr lang="he-IL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777240" y="532638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הבחירה תלויה בפלטפורמה, בצוות ובאורך חיי המוצר.</a:t>
            </a:r>
            <a:endParaRPr lang="he-IL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WPF בקורס הזה?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ה-UI הוא טקסט (XAML)</a:t>
            </a:r>
            <a:endParaRPr lang="he-IL" sz="18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 ל-diff, ל-code review — וכלי AI (יום 4) מייצרים אותו מצוין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binding ו-MVVM מובנים</a:t>
            </a:r>
            <a:endParaRPr lang="he-IL" sz="18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שלומדים כאן עובר ל-WinUI, MAUI ו-Avalonia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פריסה רספונסיבית "בחינם"</a:t>
            </a:r>
            <a:endParaRPr lang="he-IL" sz="18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 + star sizing מתאים את עצמו לגודל החלון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עדיין הבחירה הנפוצה לאפליקציות עסקיות ב-Windows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WinForms — במודול 07, ככלי לפרוטוטייפ פנימי מהיר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פרויקט WPF: מבנה ו-csproj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9A9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MyFirstWpf.csproj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685800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&lt;Project Sdk="Microsoft.NET.Sdk"&gt;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&lt;PropertyGroup&gt;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&lt;OutputType&gt;WinExe&lt;/OutputType&gt;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&lt;TargetFramework&gt;net10.0-windows&lt;/TargetFramework&gt;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&lt;Nullable&gt;enable&lt;/Nullable&gt;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&lt;ImplicitUsings&gt;enable&lt;/ImplicitUsings&gt;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&lt;UseWPF&gt;true&lt;/UseWPF&gt;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&lt;/PropertyGroup&gt;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&lt;/Project&gt;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MyFirstWpf/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App.xaml / App.xaml.cs        &lt;- משאבים + StartupUri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MainWindow.xaml               &lt;- ה-UI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MainWindow.xaml.cs            &lt;- code-behind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dotnet new wpf -n MyFirstWpf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net10.0-windows + UseWPF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WinExe = בלי חלון קונסולה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EnableWindowsTargeting מאפשר build גם ב-Linux (הרצה רק ב-Windows)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Main() — נוצר אוטומטית</a:t>
            </a:r>
            <a:endParaRPr lang="he-I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XAML + code-behind: שני חצאים של מחלקה אחת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9A9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MainWindow.xaml / .xaml.cs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685800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&lt;Window x:Class="MyFirstWpf.MainWindow"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xmlns="http://schemas.microsoft.com/winfx/2006/xaml/presentation"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xmlns:x="http://schemas.microsoft.com/winfx/2006/xaml"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Title="Hello" Height="200" Width="320"&gt;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&lt;StackPanel Margin="16"&gt;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&lt;TextBox x:Name="NameBox" /&gt;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&lt;Button Content="Say hello" Click="Hello_Click" /&gt;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&lt;TextBlock x:Name="Greeting" FontSize="20" /&gt;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&lt;/StackPanel&gt;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&lt;/Window&gt;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partial class MainWindow : Window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MainWindow() { InitializeComponent(); }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void Hello_Click(object sender, RoutedEventArgs e)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=&gt; Greeting.Text = $"שלום, {NameBox.Text}!";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x:Class חייב להתאים ל-namespace + מחלקה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partial: החצי השני נוצר מה-XAML (g.cs)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x:Name → שדה במחלקה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InitializeComponent() תמיד ראשון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Click="..." = רישום אירוע</a:t>
            </a:r>
            <a:endParaRPr lang="he-I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XAML בשתי דקות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אלמנט = מחלקה, attribute = property</a:t>
            </a:r>
            <a:endParaRPr lang="he-IL" sz="16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&lt;Button Content="OK" Width="80" /&gt; == new Button { Content = "OK", Width = 80 }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element syntax לערכים מורכבים</a:t>
            </a:r>
            <a:endParaRPr lang="he-IL" sz="16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&lt;Button.Content&gt; &lt;StackPanel&gt;...&lt;/StackPanel&gt; &lt;/Button.Content&gt;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Namespaces</a:t>
            </a:r>
            <a:endParaRPr lang="he-IL" sz="16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xmlns = פקדי WPF, xmlns:x = מילות XAML, xmlns:local = המחלקות שלכם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Resources + {StaticResource Key}</a:t>
            </a:r>
            <a:endParaRPr lang="he-IL" sz="16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צבעים, Styles, converters לשימוש חוזר; Style בלי x:Key חל על כל הפקדים מהסוג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Markup extensions: {Binding}, {StaticResource}, {DynamicResource}, {x:Type}</a:t>
            </a:r>
            <a:endParaRPr lang="he-IL" sz="16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הכלים ב-Visual Studio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9109481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74375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34395" y="176022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38081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Designer</a:t>
            </a:r>
            <a:endParaRPr lang="he-IL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338081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תצוגה מפוצלת: XAML + תצוגה מקדימה. גרירה מה-Toolbox אפשרית, אבל רוב המפתחים כותבים XAML ביד.</a:t>
            </a:r>
            <a:endParaRPr lang="he-IL" sz="1300" dirty="0"/>
          </a:p>
        </p:txBody>
      </p:sp>
      <p:sp>
        <p:nvSpPr>
          <p:cNvPr id="8" name="Shape 5"/>
          <p:cNvSpPr/>
          <p:nvPr/>
        </p:nvSpPr>
        <p:spPr>
          <a:xfrm>
            <a:off x="6255868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920761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0781" y="176022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84468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XAML Hot Reload</a:t>
            </a:r>
            <a:endParaRPr lang="he-IL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484468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F5, עורכים XAML, שומרים — החלון הרץ מתעדכן מיד. הכלי המרכזי לפרוטוטייפינג.</a:t>
            </a:r>
            <a:endParaRPr lang="he-IL" sz="1300" dirty="0"/>
          </a:p>
        </p:txBody>
      </p:sp>
      <p:sp>
        <p:nvSpPr>
          <p:cNvPr id="13" name="Shape 9"/>
          <p:cNvSpPr/>
          <p:nvPr/>
        </p:nvSpPr>
        <p:spPr>
          <a:xfrm>
            <a:off x="3402254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067148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168" y="176022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30854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Visual Tree</a:t>
            </a:r>
            <a:endParaRPr lang="he-IL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630854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עץ הפקדים בזמן ריצה + Live Property Explorer: מי קבע כל property.</a:t>
            </a:r>
            <a:endParaRPr lang="he-IL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2213534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3554" y="176022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77240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window</a:t>
            </a:r>
            <a:endParaRPr lang="he-IL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777240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שגיאות binding מודפסות כאן — לא כחריגות! System.Windows.Data Error.</a:t>
            </a:r>
            <a:endParaRPr lang="he-IL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2743200"/>
            <a:ext cx="7315200" cy="7315200"/>
          </a:xfrm>
          <a:prstGeom prst="ellipse">
            <a:avLst/>
          </a:prstGeom>
          <a:solidFill>
            <a:srgbClr val="512BD4">
              <a:alpha val="2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1887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82880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פריסה, פקדים ו-UI רספונסיבי</a:t>
            </a:r>
            <a:endParaRPr lang="he-IL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338328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Grid, StackPanel, DockPanel, WrapPanel — ולא לחסום את ה-UI thread</a:t>
            </a:r>
            <a:endParaRPr lang="he-IL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Grid: הסוס העבודה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9A9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 + star sizing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685800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&lt;Grid&gt;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&lt;Grid.RowDefinitions&gt;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&lt;RowDefinition Height="Auto" /&gt;   &lt;!-- כגובה התוכן --&gt;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&lt;RowDefinition Height="*" /&gt;      &lt;!-- כל השאר --&gt;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&lt;RowDefinition Height="40" /&gt;     &lt;!-- פיקסלים --&gt;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&lt;/Grid.RowDefinitions&gt;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&lt;Grid.ColumnDefinitions&gt;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&lt;ColumnDefinition Width="Auto" /&gt;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&lt;ColumnDefinition Width="2*" /&gt;   &lt;!-- פי 2 --&gt;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&lt;ColumnDefinition Width="*" /&gt;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&lt;/Grid.ColumnDefinitions&gt;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&lt;TextBlock Grid.Row="0" Grid.Column="0" Text="Name:" /&gt;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&lt;TextBox   Grid.Row="0" Grid.Column="1" Grid.ColumnSpan="2" /&gt;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&lt;ListBox   Grid.Row="1" Grid.ColumnSpan="3" /&gt;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&lt;Button    Grid.Row="2" Grid.Column="2" Content="OK" /&gt;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&lt;/Grid&gt;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קואורדינטות — panels וחוקים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/ פיקסלים / * (יחסי)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Grid.Row, Grid.Column = attached properties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ColumnSpan / RowSpan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→ Arrange בכל שינוי גודל</a:t>
            </a:r>
            <a:endParaRPr lang="he-I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שאר ה-Panels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8158277" y="137160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911535" y="160020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7265" y="1725930"/>
            <a:ext cx="251460" cy="251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86877" y="224028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StackPanel</a:t>
            </a:r>
            <a:endParaRPr lang="he-IL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386877" y="274320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ערימה אנכית/אופקית. לכפתורים ולטפסים קצרים. לא מותח ילדים בכיוון הערימה.</a:t>
            </a:r>
            <a:endParaRPr lang="he-IL" sz="1200" dirty="0"/>
          </a:p>
        </p:txBody>
      </p:sp>
      <p:sp>
        <p:nvSpPr>
          <p:cNvPr id="8" name="Shape 5"/>
          <p:cNvSpPr/>
          <p:nvPr/>
        </p:nvSpPr>
        <p:spPr>
          <a:xfrm>
            <a:off x="4353458" y="137160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06717" y="160020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2447" y="172593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82058" y="224028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DockPanel</a:t>
            </a:r>
            <a:endParaRPr lang="he-IL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82058" y="274320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Top/Bottom/Left/Right + הילד האחרון ממלא. מסגרת חלון: תפריט למעלה, סטטוס למטה.</a:t>
            </a:r>
            <a:endParaRPr lang="he-IL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137160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301898" y="160020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7628" y="172593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77240" y="224028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WrapPanel</a:t>
            </a:r>
            <a:endParaRPr lang="he-IL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274320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שובר שורה כשנגמר המקום. סרגלי כלים, תגיות, כרטיסים.</a:t>
            </a:r>
            <a:endParaRPr lang="he-IL" sz="1200" dirty="0"/>
          </a:p>
        </p:txBody>
      </p:sp>
      <p:sp>
        <p:nvSpPr>
          <p:cNvPr id="18" name="Shape 13"/>
          <p:cNvSpPr/>
          <p:nvPr/>
        </p:nvSpPr>
        <p:spPr>
          <a:xfrm>
            <a:off x="8158277" y="395478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10911535" y="418338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7265" y="430911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86877" y="48234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Canvas</a:t>
            </a:r>
            <a:endParaRPr lang="he-IL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8386877" y="532638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מיקום מוחלט (Left/Top). ציור ומשחקים — לא טפסים.</a:t>
            </a:r>
            <a:endParaRPr lang="he-IL" sz="1200" dirty="0"/>
          </a:p>
        </p:txBody>
      </p:sp>
      <p:sp>
        <p:nvSpPr>
          <p:cNvPr id="23" name="Shape 17"/>
          <p:cNvSpPr/>
          <p:nvPr/>
        </p:nvSpPr>
        <p:spPr>
          <a:xfrm>
            <a:off x="4353458" y="395478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7106717" y="418338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2447" y="4309110"/>
            <a:ext cx="251460" cy="25146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582058" y="48234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UniformGrid</a:t>
            </a:r>
            <a:endParaRPr lang="he-IL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4582058" y="532638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תאים שווים בלי הגדרות. Columns="4" — מצוין לכרטיסים.</a:t>
            </a:r>
            <a:endParaRPr lang="he-IL" sz="1200" dirty="0"/>
          </a:p>
        </p:txBody>
      </p:sp>
      <p:sp>
        <p:nvSpPr>
          <p:cNvPr id="28" name="Shape 21"/>
          <p:cNvSpPr/>
          <p:nvPr/>
        </p:nvSpPr>
        <p:spPr>
          <a:xfrm>
            <a:off x="548640" y="395478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3301898" y="418338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7628" y="4309110"/>
            <a:ext cx="251460" cy="25146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77240" y="48234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Viewbox</a:t>
            </a:r>
            <a:endParaRPr lang="he-IL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777240" y="532638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מגדיל/מקטין את התוכן כולו כמו תמונה. לוגו, מסך קיוסק.</a:t>
            </a:r>
            <a:endParaRPr lang="he-IL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Margin, Padding, Alignment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 — מרווח מחוץ לפקד</a:t>
            </a:r>
            <a:endParaRPr lang="he-IL" sz="16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"8" | "left,top,right,bottom" | "horizontal,vertical"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Padding — מרווח בתוך הפקד</a:t>
            </a:r>
            <a:endParaRPr lang="he-IL" sz="16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Border, Button, TextBox...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HorizontalAlignment / VerticalAlignment</a:t>
            </a:r>
            <a:endParaRPr lang="he-IL" sz="16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 (ברירת מחדל: למלא), Left, Center, Right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Width קבוע מבטל את ה-Stretch — השתמשו ב-MinWidth / MaxWidth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Visibility: Visible / Hidden (תופס מקום) / Collapsed (לא תופס)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Border = מסגרת + רקע + CornerRadius סביב ילד אחד</a:t>
            </a:r>
            <a:endParaRPr lang="he-IL" sz="16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הפקדים הנפוצים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6324448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53048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קלט ופעולה</a:t>
            </a:r>
            <a:endParaRPr lang="he-IL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53048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TextBox (Text, TextChanged), PasswordBox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Button (Content, Click, Command, IsDefault, IsCancel)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CheckBox / RadioButton (IsChecked — bool?)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ComboBox (ItemsSource, SelectedItem)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Slider / ProgressBar (Minimum, Maximum, Value)</a:t>
            </a:r>
            <a:endParaRPr lang="he-IL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תצוגה ומבנה</a:t>
            </a:r>
            <a:endParaRPr lang="he-I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TextBlock (TextWrapping, TextTrimming), Image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ListBox / ListView (ItemTemplate)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DataGrid (Columns, AutoGenerateColumns)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TabControl, Menu, ContextMenu, StatusBar, ToolBar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ScrollViewer, GridSplitter, Expander</a:t>
            </a:r>
            <a:endParaRPr lang="he-IL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עיצוב רספונסיבי (במובן של גודל)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 sizing במקום פיקסלים; Auto לתוויות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MinWidth / MinHeight על החלון — מתחת לזה הכל נשבר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ScrollViewer סביב תוכן ארוך (לא סביב DataGrid!)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TextWrapping="Wrap", TextTrimming="CharacterEllipsis"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WrapPanel לסרגלים שיישברו לשורה שנייה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פריסה אדפטיבית: SizeChanged</a:t>
            </a:r>
            <a:endParaRPr lang="he-IL" sz="18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מתחת ל-600px: הפאנל הצדדי עובר מעל התוכן (Grid.SetColumn)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DPI: WPF עובד ביחידות לוגיות — 100 = 100 ב-100%, 150 ב-150%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רספונסיבי במובן השני: לא לחסום את ה-UI thread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9A9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event handler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685800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רע: החלון קופא ל-3 שניות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void Load_Click(object sender, RoutedEventArgs e)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data = _service.GetData();   // HTTP סינכרוני / Thread.Sleep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Grid.ItemsSource = data;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טוב: ה-UI thread משוחרר בזמן ההמתנה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async void Load_Click(object sender, RoutedEventArgs e)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LoadButton.IsEnabled = false;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data = await _service.GetDataAsync();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Grid.ItemsSource = data;     // חזרנו ל-UI thread אוטומטית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catch (HttpRequestException ex) { ShowError(ex.Message); }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finally { LoadButton.IsEnabled = true; }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thread אחד מצייר ומטפל בקלט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שמחכה = "Not Responding"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 void מותר רק ב-event handlers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תמיד try/catch בפנים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await — חזרה ל-UI thread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מ-Task.Run: Dispatcher.Invoke</a:t>
            </a:r>
            <a:endParaRPr lang="he-I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5835" y="617220"/>
            <a:ext cx="411480" cy="411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65760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1 — Unit Converter</a:t>
            </a:r>
            <a:endParaRPr lang="he-IL" sz="3200" dirty="0"/>
          </a:p>
        </p:txBody>
      </p:sp>
      <p:sp>
        <p:nvSpPr>
          <p:cNvPr id="5" name="Shape 2"/>
          <p:cNvSpPr/>
          <p:nvPr/>
        </p:nvSpPr>
        <p:spPr>
          <a:xfrm>
            <a:off x="4693615" y="1371600"/>
            <a:ext cx="6949440" cy="4846320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922215" y="150876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המשימות</a:t>
            </a:r>
            <a:endParaRPr lang="he-IL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922215" y="2011680"/>
            <a:ext cx="6492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ממשו UnitConverter.Convert ו-TryParseInput (לוגיקה בלי WPF)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בנו את ה-Grid: 3 עמודות (Auto, *, Auto) ו-6 שורות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מלאו את ה-ComboBox-ים מ-LengthUnit.All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חברו TextChanged + SelectionChanged ל-Convert() — המרה חיה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הציגו שגיאה אדומה על קלט לא תקין והשביתו את הכפתור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מפעיל (IsDefault), Escape מנקה; בונוס: כפתור Swap</a:t>
            </a:r>
            <a:endParaRPr lang="he-IL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137160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87775" y="155448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075" y="166878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" y="155448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</a:t>
            </a:r>
            <a:endParaRPr lang="he-IL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31520" y="205740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האפליקציה הראשונה ב-WPF: פריסה עם Grid, ComboBox ליחידות, המרה חיה עם ולידציה.</a:t>
            </a:r>
            <a:endParaRPr lang="he-IL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07848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687775" y="326136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075" y="337566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1520" y="326136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משך</a:t>
            </a:r>
            <a:endParaRPr lang="he-IL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376428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דקות</a:t>
            </a:r>
            <a:endParaRPr lang="he-IL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478536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687775" y="496824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2075" y="5082540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96824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תוצר</a:t>
            </a:r>
            <a:endParaRPr lang="he-IL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547116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ממיר יחידות אורך שעובד בלחיצה, בזמן הקלדה ועם Enter; קלט שגוי מציג הודעה ולא קורס.</a:t>
            </a:r>
            <a:endParaRPr lang="he-IL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2743200"/>
            <a:ext cx="7315200" cy="7315200"/>
          </a:xfrm>
          <a:prstGeom prst="ellipse">
            <a:avLst/>
          </a:prstGeom>
          <a:solidFill>
            <a:srgbClr val="512BD4">
              <a:alpha val="2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1887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82880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אירועים ותכנות מונחה-אירועים</a:t>
            </a:r>
            <a:endParaRPr lang="he-IL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338328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routed events, sender/e, ICommand, קיצורי מקלדת, DispatcherTimer</a:t>
            </a:r>
            <a:endParaRPr lang="he-IL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המודל: התוכנית מחכה, המשתמש מוביל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קונסולה: הקוד "מושך" קלט מלמעלה למטה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GUI: לולאת הודעות; כל פעולה = אירוע; אתם רושמים handlers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חתימה אחידה: (object sender, TEventArgs e)</a:t>
            </a:r>
            <a:endParaRPr lang="he-IL" sz="18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sender = מי הפעיל (שימושי ל-handler משותף)</a:t>
            </a:r>
            <a:endParaRPr lang="he-IL" sz="18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= מה קרה: Key, GetPosition(), Cancel, NewSize...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רישום ב-XAML: Click="Save_Click" | בקוד: button.Click += Save_Click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lambda handlers לגיטימיים — אבל אי אפשר להסיר; זהירות עם אובייקטים ארוכי-חיים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Routed events: מנהור ובעבוע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9A9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Day3.Demo.Events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685800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handler אחד על ה-Grid במקום עשרים על כפתורים --&gt;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&lt;Grid Button.Click="AnyButton_Click"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PreviewMouseDown="Grid_PreviewMouseDown"&gt;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&lt;Button Content="1" /&gt; &lt;Button Content="2" /&gt; ...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&lt;/Grid&gt;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void AnyButton_Click(object sender, RoutedEventArgs e)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sender = ה-Grid; OriginalSource = הכפתור שבאמת נלחץ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(e.OriginalSource is Button b) Display.Text += b.Content;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void ButtonB_Click(object sender, RoutedEventArgs e)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e.Handled = true;   // עוצר את הבעבוע — ההורים לא יקבלו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Bubbling: מהפקד למעלה (Click, KeyDown)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Tunneling: מה-root למטה (Preview*), תמיד קודם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e.OriginalSource = המקור האמיתי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e.Handled = true עוצר את המסע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Preview* = ליירט לפני שהפקד מגיב</a:t>
            </a:r>
            <a:endParaRPr lang="he-I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אירועים שתפגשו כל יום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6324448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53048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פקדים</a:t>
            </a:r>
            <a:endParaRPr lang="he-IL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53048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— Button, MenuItem (עכבר, Enter, רווח)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TextChanged — TextBox, כל שינוי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SelectionChanged — ComboBox, ListBox, DataGrid (גם מהקוד!)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KeyDown / PreviewKeyDown — e.Key == Key.Enter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Checked / Unchecked, ValueChanged, MouseDoubleClick</a:t>
            </a:r>
            <a:endParaRPr lang="he-IL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חלון ומחזור חיים</a:t>
            </a:r>
            <a:endParaRPr lang="he-I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Loaded — הפקד מוכן; מקום לטעינת נתונים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— לפני סגירה; e.Cancel = true מבטל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— אחרי סגירה; ניקוי timers וקבצים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SizeChanged — פריסה אדפטיבית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(!IsLoaded) return; — נגד SelectionChanged מוקדם</a:t>
            </a:r>
            <a:endParaRPr lang="he-IL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ICommand: הפעולה כאובייקט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9A9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RelayCommand.cs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685800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sealed class RelayCommand(Action execute,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Func&lt;bool&gt;? canExecute = null)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ICommand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bool CanExecute(object? p) =&gt; canExecute?.Invoke() ?? true;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void Execute(object? p) =&gt; execute();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WPF בודק מחדש CanExecute אחרי כל אינטראקציה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event EventHandler? CanExecuteChanged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add =&gt; CommandManager.RequerySuggested += value;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remove =&gt; CommandManager.RequerySuggested -= value;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שימוש: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SaveCommand = new RelayCommand(Save, () =&gt; _dirty);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Content="Save" Command="{Binding SaveCommand}" /&gt;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&lt;MenuItem Header="_Save" Command="{Binding SaveCommand}" /&gt;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CanExecute=false → הכפתור מושבת לבד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אותה פעולה מכפתור, תפריט וקיצור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 ב-ViewModel, לא ב-code-behind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CommandManager.InvalidateRequerySuggested() אחרי await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CommunityToolkit.Mvvm: [RelayCommand]</a:t>
            </a:r>
            <a:endParaRPr lang="he-I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קיצורי מקלדת ו-DispatcherTimer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9A9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InputBindings + timer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685800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&lt;Window.InputBindings&gt;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&lt;KeyBinding Key="S" Modifiers="Ctrl"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Command="{Binding SaveCommand}" /&gt;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&lt;KeyBinding Key="F5" Command="{Binding RefreshCommand}" /&gt;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&lt;KeyBinding Key="Delete" Command="{Binding DeleteCommand}" /&gt;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&lt;/Window.InputBindings&gt;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Content="_Save" IsDefault="True" /&gt;   &lt;!-- Enter, Alt+S --&gt;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Content="_Cancel" IsCancel="True" /&gt;  &lt;!-- Escape --&gt;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DispatcherTimer: Tick רץ על ה-UI thread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readonly DispatcherTimer _timer =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new() { Interval = TimeSpan.FromSeconds(1) };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_timer.Tick += (_, _) =&gt; Clock.Text = DateTime.Now.ToString("T");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Loaded += (_, _) =&gt; _timer.Start();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 += (_, _) =&gt; _timer.Stop();   // אחרת החלון חי לנצח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InputBindings עובדים רק עם Commands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IsDefault / IsCancel / _mnemonic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DispatcherTimer ≠ System.Timers.Timer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Stopwatch למדידה, timer רק לציור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Debounce: Stop + Start בכל הקשה</a:t>
            </a:r>
            <a:endParaRPr lang="he-I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2743200"/>
            <a:ext cx="7315200" cy="7315200"/>
          </a:xfrm>
          <a:prstGeom prst="ellipse">
            <a:avLst/>
          </a:prstGeom>
          <a:solidFill>
            <a:srgbClr val="512BD4">
              <a:alpha val="2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1887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82880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Binding ו-MVVM-lite</a:t>
            </a:r>
            <a:endParaRPr lang="he-IL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338328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DataContext, INotifyPropertyChanged, ObservableCollection, DataTemplate, converters</a:t>
            </a:r>
            <a:endParaRPr lang="he-IL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DataContext ו-{Binding}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הבעיה: Greeting.Text = ... מכל מקום → code-behind סלט, בלתי ניתן לבדיקה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DataContext = האובייקט שה-binding מסתכל עליו; עובר בירושה במורד העץ</a:t>
            </a:r>
            <a:endParaRPr lang="he-IL" sz="16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DataContext = new MainViewModel(); פעם אחת על החלון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{Binding Path}: NewTitle, Selected.Name, Items.Count</a:t>
            </a:r>
            <a:endParaRPr lang="he-IL" sz="16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ElementName= לפקד אחר; RelativeSource= להורה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Mode: OneWay (ברירת מחדל) | TwoWay (TextBox.Text, IsChecked, SelectedItem) | OneTime</a:t>
            </a:r>
            <a:endParaRPr lang="he-IL" sz="16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UpdateSourceTrigger=PropertyChanged — כל הקשה, לא רק LostFocus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FallbackValue / TargetNullValue — בלי converter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שגיאת binding לא זורקת! → Output window: System.Windows.Data Error</a:t>
            </a:r>
            <a:endParaRPr lang="he-IL" sz="16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INotifyPropertyChanged דרך מחלקת בסיס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9A9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Mvvm/ObservableObject.cs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685800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abstract class ObservableObject : INotifyPropertyChanged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event PropertyChangedEventHandler? PropertyChanged;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protected void OnPropertyChanged(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[CallerMemberName] string? name = null) =&gt;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PropertyChanged?.Invoke(this,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new PropertyChangedEventArgs(name));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protected bool SetProperty&lt;T&gt;(ref T field, T value,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[CallerMemberName] string? name = null)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(EqualityComparer&lt;T&gt;.Default.Equals(field, value))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field = value; OnPropertyChanged(name); return true;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TodoItem : ObservableObject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string _title = "";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string Title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get =&gt; _title; set =&gt; SetProperty(ref _title, value); }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binding ל-property רגיל = פעם אחת בלבד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[CallerMemberName] — בלי מחרוזות קסם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SetProperty מחזיר true אם השתנה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מחושב: OnPropertyChanged(nameof(Summary)) ידנית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CommunityToolkit: [ObservableProperty]</a:t>
            </a:r>
            <a:endParaRPr lang="he-I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ObservableCollection + DataTemplate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9A9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MainViewModel + XAML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685800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ViewModel: הרשימה מודיעה על Add/Remove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ObservableCollection&lt;TodoItem&gt; Items { get; } = [];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TodoItem? Selected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get =&gt; _selected; set =&gt; SetProperty(ref _selected, value); }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&lt;ListBox ItemsSource="{Binding Items}"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SelectedItem="{Binding Selected}"&gt;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&lt;ListBox.ItemTemplate&gt;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&lt;DataTemplate&gt;   &lt;!-- DataContext כאן = הפריט --&gt;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&lt;DockPanel&gt;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&lt;CheckBox IsChecked="{Binding IsDone}" /&gt;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&lt;TextBlock Text="{Binding Title}" Margin="6,0" /&gt;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&lt;TextBlock Foreground="Gray"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Text="{Binding Created, StringFormat=d}" /&gt;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&lt;/DockPanel&gt;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&lt;/DataTemplate&gt;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&lt;/ListBox.ItemTemplate&gt;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&lt;/ListBox&gt;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מתוך template, חזרה ל-VM של החלון: --&gt;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Command="{Binding DataContext.RemoveCommand,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RelativeSource={RelativeSource AncestorType=Window}}" /&gt;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List&lt;T&gt; לא מודיע; ObservableCollection כן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האוסף מודיע על הוספה/הסרה — הפריט על שינוי בתוכו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DataTemplate = איך נראה פריט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StringFormat: {} בהתחלה = escape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 מה-UI thread!</a:t>
            </a:r>
            <a:endParaRPr lang="he-I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Converters: כשהמקור והיעד מסוגים שונים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9A9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BoolToBrushConverter.cs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685800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BoolToBrushConverter : IValueConverter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object Convert(object value, Type targetType,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object parameter, CultureInfo culture)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=&gt; value is true ? Brushes.SeaGreen : Brushes.DimGray;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object ConvertBack(object value, Type targetType,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object parameter, CultureInfo culture)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=&gt; throw new NotSupportedException();   // one-way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&lt;Window.Resources&gt;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&lt;conv:BoolToBrushConverter x:Key="DoneBrush" /&gt;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&lt;BooleanToVisibilityConverter x:Key="BoolToVis" /&gt; &lt;!-- מובנה --&gt;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&lt;/Window.Resources&gt;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&lt;TextBlock Foreground="{Binding IsDone,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Converter={StaticResource DoneBrush}}" /&gt;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&lt;ProgressBar Visibility="{Binding IsBusy,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Converter={StaticResource BoolToVis}}" /&gt;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bool → Brush, enum → טקסט, double → Visibility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רשום כ-resource, משמש ב-{Binding Converter=}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ConverterParameter — ערך מה-XAML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BooleanToVisibilityConverter מובנה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Visibility הוא enum, לא bool</a:t>
            </a:r>
            <a:endParaRPr lang="he-I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MVVM-lite: ארבע שכבות, בלי דוגמה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11002975" y="150876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002975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101800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— XAML + code-behind מינימלי</a:t>
            </a:r>
            <a:endParaRPr lang="he-IL" sz="1800" dirty="0"/>
          </a:p>
          <a:p>
            <a:pPr algn="r" indent="0" marL="0">
              <a:buNone/>
            </a:pPr>
            <a:r>
              <a:rPr lang="he-IL" altLang="en-US" sz="14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יוצר את ה-VM, קובע DataContext, מטפל ב-UI טהור (SizeChanged, פוקוס, דיאלוגים).</a:t>
            </a:r>
            <a:endParaRPr lang="he-IL" sz="1800" dirty="0"/>
          </a:p>
        </p:txBody>
      </p:sp>
      <p:sp>
        <p:nvSpPr>
          <p:cNvPr id="6" name="Shape 4"/>
          <p:cNvSpPr/>
          <p:nvPr/>
        </p:nvSpPr>
        <p:spPr>
          <a:xfrm>
            <a:off x="11002975" y="242316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002975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31720"/>
            <a:ext cx="101800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ViewModel — ObservableObject</a:t>
            </a:r>
            <a:endParaRPr lang="he-IL" sz="1800" dirty="0"/>
          </a:p>
          <a:p>
            <a:pPr algn="r" indent="0" marL="0">
              <a:buNone/>
            </a:pPr>
            <a:r>
              <a:rPr lang="he-IL" altLang="en-US" sz="14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מצב המסך + ICommand-ים. אין using System.Windows.Controls. נבדק ב-xUnit בלי חלון.</a:t>
            </a:r>
            <a:endParaRPr lang="he-IL" sz="1800" dirty="0"/>
          </a:p>
        </p:txBody>
      </p:sp>
      <p:sp>
        <p:nvSpPr>
          <p:cNvPr id="9" name="Shape 7"/>
          <p:cNvSpPr/>
          <p:nvPr/>
        </p:nvSpPr>
        <p:spPr>
          <a:xfrm>
            <a:off x="11002975" y="333756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002975" y="3337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246120"/>
            <a:ext cx="101800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— מאחורי ממשק</a:t>
            </a:r>
            <a:endParaRPr lang="he-IL" sz="1800" dirty="0"/>
          </a:p>
          <a:p>
            <a:pPr algn="r" indent="0" marL="0">
              <a:buNone/>
            </a:pPr>
            <a:r>
              <a:rPr lang="he-IL" altLang="en-US" sz="14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IProductService: I/O, HTTP, קבצים. Fake לפיתוח ובדיקות, Http לייצור.</a:t>
            </a:r>
            <a:endParaRPr lang="he-IL" sz="1800" dirty="0"/>
          </a:p>
        </p:txBody>
      </p:sp>
      <p:sp>
        <p:nvSpPr>
          <p:cNvPr id="12" name="Shape 10"/>
          <p:cNvSpPr/>
          <p:nvPr/>
        </p:nvSpPr>
        <p:spPr>
          <a:xfrm>
            <a:off x="11002975" y="425196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002975" y="4251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160520"/>
            <a:ext cx="101800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— נתונים</a:t>
            </a:r>
            <a:endParaRPr lang="he-IL" sz="1800" dirty="0"/>
          </a:p>
          <a:p>
            <a:pPr algn="r" indent="0" marL="0">
              <a:buNone/>
            </a:pPr>
            <a:r>
              <a:rPr lang="he-IL" altLang="en-US" sz="14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Product, Contact. records או ObservableObject כשצריך עריכה חיה.</a:t>
            </a:r>
            <a:endParaRPr lang="he-IL" sz="1800" dirty="0"/>
          </a:p>
        </p:txBody>
      </p:sp>
      <p:sp>
        <p:nvSpPr>
          <p:cNvPr id="15" name="Shape 13"/>
          <p:cNvSpPr/>
          <p:nvPr/>
        </p:nvSpPr>
        <p:spPr>
          <a:xfrm>
            <a:off x="11002975" y="516636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002975" y="5166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074920"/>
            <a:ext cx="101800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DI-lite</a:t>
            </a:r>
            <a:endParaRPr lang="he-IL" sz="1800" dirty="0"/>
          </a:p>
          <a:p>
            <a:pPr algn="r" indent="0" marL="0">
              <a:buNone/>
            </a:pPr>
            <a:r>
              <a:rPr lang="he-IL" altLang="en-US" sz="14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ה-VM מקבל services בבנאי; ה-View (או App) הוא ה-composition root.</a:t>
            </a:r>
            <a:endParaRPr lang="he-IL" sz="1800" dirty="0"/>
          </a:p>
        </p:txBody>
      </p:sp>
      <p:sp>
        <p:nvSpPr>
          <p:cNvPr id="18" name="Shape 16"/>
          <p:cNvSpPr/>
          <p:nvPr/>
        </p:nvSpPr>
        <p:spPr>
          <a:xfrm>
            <a:off x="-1097280" y="4846320"/>
            <a:ext cx="2926080" cy="2926080"/>
          </a:xfrm>
          <a:prstGeom prst="ellipse">
            <a:avLst/>
          </a:prstGeom>
          <a:solidFill>
            <a:srgbClr val="512BD4">
              <a:alpha val="1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5852160"/>
            <a:ext cx="1463040" cy="1463040"/>
          </a:xfrm>
          <a:prstGeom prst="ellipse">
            <a:avLst/>
          </a:prstGeom>
          <a:solidFill>
            <a:srgbClr val="FFB020">
              <a:alpha val="25000"/>
            </a:srgbClr>
          </a:solidFill>
          <a:ln w="12700">
            <a:solidFill>
              <a:srgbClr val="FFB020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ידני מול CommunityToolkit.Mvvm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6324448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53048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שכתבנו היום (אפס תלויות)</a:t>
            </a:r>
            <a:endParaRPr lang="he-IL" sz="2000" dirty="0"/>
          </a:p>
        </p:txBody>
      </p:sp>
      <p:sp>
        <p:nvSpPr>
          <p:cNvPr id="5" name="Shape 3"/>
          <p:cNvSpPr/>
          <p:nvPr/>
        </p:nvSpPr>
        <p:spPr>
          <a:xfrm>
            <a:off x="6507328" y="2103120"/>
            <a:ext cx="4952848" cy="3931920"/>
          </a:xfrm>
          <a:prstGeom prst="roundRect">
            <a:avLst>
              <a:gd name="adj" fmla="val 2326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98768" y="2194560"/>
            <a:ext cx="4769968" cy="3749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VM : ObservableObject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string _title = "";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string Title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get =&gt; _title;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set =&gt; SetProperty(ref _title,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value);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ICommand AddCommand { get; }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VM()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AddCommand =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new RelayCommand(Add, CanAdd);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source generators (NuGet)</a:t>
            </a:r>
            <a:endParaRPr lang="he-IL" sz="2000" dirty="0"/>
          </a:p>
        </p:txBody>
      </p:sp>
      <p:sp>
        <p:nvSpPr>
          <p:cNvPr id="9" name="Shape 7"/>
          <p:cNvSpPr/>
          <p:nvPr/>
        </p:nvSpPr>
        <p:spPr>
          <a:xfrm>
            <a:off x="731520" y="2103120"/>
            <a:ext cx="4952848" cy="3931920"/>
          </a:xfrm>
          <a:prstGeom prst="roundRect">
            <a:avLst>
              <a:gd name="adj" fmla="val 2326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194560"/>
            <a:ext cx="4769968" cy="3749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partial class VM : ObservableObject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[ObservableProperty]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string _title = "";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[RelayCommand(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CanExecute = nameof(CanAdd))]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void Add() { ... }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bool CanAdd()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=&gt; !string.IsNullOrWhiteSpace(Title);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גם: AsyncRelayCommand, Messenger, Ioc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2743200"/>
            <a:ext cx="7315200" cy="7315200"/>
          </a:xfrm>
          <a:prstGeom prst="ellipse">
            <a:avLst/>
          </a:prstGeom>
          <a:solidFill>
            <a:srgbClr val="512BD4">
              <a:alpha val="2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1887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82880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חיבור ה-GUI ל-backend</a:t>
            </a:r>
            <a:endParaRPr lang="he-IL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338328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 וממשקים, async commands, IsBusy + Progress + Cancel, Dispatcher, שגיאות, %AppData%</a:t>
            </a:r>
            <a:endParaRPr lang="he-IL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ה-UI הוא קליפה: services מאחורי ממשק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הקוד מימים 1–2 לא צריך לדעת שהוא רץ מתחת לחלון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IProductService: Task&lt;IReadOnlyList&lt;Product&gt;&gt; GetProductsAsync(progress, ct)</a:t>
            </a:r>
            <a:endParaRPr lang="he-IL" sz="16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FakeProductService — in-memory, Task.Delay, יודע להיכשל</a:t>
            </a:r>
            <a:endParaRPr lang="he-IL" sz="16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HttpProductService — HttpClient + System.Text.Json (יום 2)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ממשק: פיתוח בלי שרת, בדיקות עם fake, החלפה עתידית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DI-lite: הזרקה דרך הבנאי</a:t>
            </a:r>
            <a:endParaRPr lang="he-IL" sz="16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DataContext = new ProductsViewModel(new HttpProductService(Http));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DTO נפרד מהמודל של ה-UI — ה-API משתנה, ה-XAML לא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HttpClient אחד static לכל האפליקציה</a:t>
            </a:r>
            <a:endParaRPr lang="he-IL" sz="16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השלישייה: IsBusy, Progress, Cancel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9A9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ProductsViewModel.LoadAsync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685800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async Task LoadAsync()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_cts = new CancellationTokenSource(TimeSpan.FromSeconds(30));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IsBusy = true; Error = null; Progress = 0;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progress = new Progress&lt;int&gt;(p =&gt; Progress = p); // UI thread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items = await _service.GetProductsAsync(progress,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_cts.Token);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Products.Clear();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foreach (var p in items) Products.Add(p);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Status = $"Loaded {items.Count}";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catch (OperationCanceledException) { Status = "Cancelled"; }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catch (HttpRequestException ex)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Error = "לא ניתן להתחבר לשרת. בדקו שהשרת רץ ונסו שוב.";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finally { IsBusy = false; _cts.Dispose(); _cts = null; }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Cancel() =&gt; _cts?.Cancel();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IsBusy: מכבה כפתורים, מציג ProgressBar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Progress&lt;T&gt; נוצר על ה-UI thread → callback רץ שם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CancellationToken עובר עד ל-HttpClient/Task.Delay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OperationCanceledException ≠ שגיאה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finally חובה — אחרת "טוען" לנצח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AsyncRelayCommand מונע לחיצה כפולה</a:t>
            </a:r>
            <a:endParaRPr lang="he-I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Dispatcher: כשאתם לא על ה-UI thread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9A9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Task.Run + Dispatcher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685800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אחרי await — אתם על ה-UI thread. אבל כאן לא: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Task.Run(() =&gt;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report = BuildHeavyReport();         // thread pool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ReportText.Text = report;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↑ InvalidOperationException: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  The calling thread cannot access this object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Dispatcher.Invoke(() =&gt; ReportText.Text = report);  // סינכרוני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Application.Current.Dispatcher.InvokeAsync(...) // מכל מקום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הכי פשוט: תנו ל-await לעשות את העבודה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report = await Task.Run(BuildHeavyReport);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ReportText.Text = report;   // כבר חזרנו ל-UI thread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מתי: Task.Run, callbacks של ספריות, System.Timers.Timer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Invoke — מחכה; InvokeAsync/BeginInvoke — לא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ObservableCollection גם דורש UI thread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עדיף: await Task.Run(...)</a:t>
            </a:r>
            <a:endParaRPr lang="he-I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שגיאות: MessageBox או inline?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6324448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53048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MessageBox</a:t>
            </a:r>
            <a:endParaRPr lang="he-IL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53048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חוסם את המשתמש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לאישורים (מחיקה) ולשגיאה קטלנית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ברירת מחדל בטוחה: MessageBoxResult.No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תמיד עם Owner — אחרת נפתח מאחורי החלון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מאפשר Retry אמיתי</a:t>
            </a:r>
            <a:endParaRPr lang="he-IL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באנר inline + Retry</a:t>
            </a:r>
            <a:endParaRPr lang="he-I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חוסם; נשאר על המסך להקשר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לשגיאות רשת, ולידציה, "נסה שוב"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Border אדמדם + TextBlock {Binding Error} + Button Retry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Visibility={Binding HasError, Converter=BoolToVis}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הודעה = מה קרה + מה לעשות; ex.ToString() ללוג בלבד</a:t>
            </a:r>
            <a:endParaRPr lang="he-IL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הגדרות ו-cache: JSON ב-%AppData%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9A9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SettingsStore.cs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685800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class SettingsStore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readonly string Dir = Path.Combine(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Environment.GetFolderPath(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Environment.SpecialFolder.ApplicationData), "MyApp");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readonly string FilePath = Path.Combine(Dir, "app.json");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static AppSettings Load()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try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(!File.Exists(FilePath)) return new();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var json = File.ReadAllText(FilePath);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JsonSerializer.Deserialize&lt;AppSettings&gt;(json)!;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catch (Exception ex) when (ex is IOException or JsonException)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return new(); }   // קובץ פגום = ברירת מחדל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static void Save(AppSettings s)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Directory.CreateDirectory(Dir);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File.WriteAllText(FilePath, JsonSerializer.Serialize(s));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ליד ה-exe (אין הרשאות ב-Program Files)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ApplicationData = %AppData% (roaming)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LocalApplicationData = cache גדול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קובץ פגום → ברירת מחדל, לא קריסה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בבנאי/Loaded, Save ב-Closing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+ async: e.Cancel; await; Close()</a:t>
            </a:r>
            <a:endParaRPr lang="he-I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2743200"/>
            <a:ext cx="7315200" cy="7315200"/>
          </a:xfrm>
          <a:prstGeom prst="ellipse">
            <a:avLst/>
          </a:prstGeom>
          <a:solidFill>
            <a:srgbClr val="512BD4">
              <a:alpha val="2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1887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82880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ולידציה ואינטראקציה עם המשתמש</a:t>
            </a:r>
            <a:endParaRPr lang="he-IL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338328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ValidationRule, INotifyDataErrorInfo, ErrorTemplate, דיאלוגים, מקלדת ונגישות</a:t>
            </a:r>
            <a:endParaRPr lang="he-IL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 רמות של ולידציה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8158277" y="1371600"/>
            <a:ext cx="3484778" cy="4846320"/>
          </a:xfrm>
          <a:prstGeom prst="roundRect">
            <a:avLst>
              <a:gd name="adj" fmla="val 3936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74375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34395" y="176022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86877" y="237744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ב-Submit</a:t>
            </a:r>
            <a:endParaRPr lang="he-IL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386877" y="2880360"/>
            <a:ext cx="302757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בלחיצה בודקים הכל, מציגים את השגיאה הראשונה, מחזירים פוקוס. פשוט; מתאים לטפסים קטנים וכלים פנימיים.</a:t>
            </a:r>
            <a:endParaRPr lang="he-IL" sz="1500" dirty="0"/>
          </a:p>
        </p:txBody>
      </p:sp>
      <p:sp>
        <p:nvSpPr>
          <p:cNvPr id="8" name="Shape 5"/>
          <p:cNvSpPr/>
          <p:nvPr/>
        </p:nvSpPr>
        <p:spPr>
          <a:xfrm>
            <a:off x="4353458" y="1371600"/>
            <a:ext cx="3484778" cy="4846320"/>
          </a:xfrm>
          <a:prstGeom prst="roundRect">
            <a:avLst>
              <a:gd name="adj" fmla="val 3936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969557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9577" y="176022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82058" y="237744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ValidationRule ב-Binding</a:t>
            </a:r>
            <a:endParaRPr lang="he-IL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582058" y="2880360"/>
            <a:ext cx="302757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הבדיקה על ה-binding, לפני שהערך מגיע ל-source. טוב לפורמט/טווח של פקד בודד. הכלל חי ב-XAML.</a:t>
            </a:r>
            <a:endParaRPr lang="he-IL" sz="1500" dirty="0"/>
          </a:p>
        </p:txBody>
      </p:sp>
      <p:sp>
        <p:nvSpPr>
          <p:cNvPr id="13" name="Shape 9"/>
          <p:cNvSpPr/>
          <p:nvPr/>
        </p:nvSpPr>
        <p:spPr>
          <a:xfrm>
            <a:off x="548640" y="1371600"/>
            <a:ext cx="3484778" cy="4846320"/>
          </a:xfrm>
          <a:prstGeom prst="roundRect">
            <a:avLst>
              <a:gd name="adj" fmla="val 3936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164738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4758" y="176022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77240" y="237744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INotifyDataErrorInfo</a:t>
            </a:r>
            <a:endParaRPr lang="he-IL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2880360"/>
            <a:ext cx="302757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ה-VM/מודל מאמת בכל setter ומדווח. HasErrors ל-CanExecute, כמה שדות בו-זמנית, נבדק ב-unit test. המומלץ ל-MVVM.</a:t>
            </a:r>
            <a:endParaRPr lang="he-IL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INotifyDataErrorInfo: מחלקת בסיס + setter מאמת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9A9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Mvvm/ValidatableObject.cs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685800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abstract class ValidatableObject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ObservableObject, INotifyDataErrorInfo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readonly Dictionary&lt;string, List&lt;string&gt;&gt; _errors = new();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bool HasErrors =&gt; _errors.Count &gt; 0;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event EventHandler&lt;DataErrorsChangedEventArgs&gt;?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ErrorsChanged;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IEnumerable GetErrors(string? name) =&gt;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name != null &amp;&amp; _errors.TryGetValue(name, out var l)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? l : Array.Empty&lt;string&gt;();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protected void SetErrors(IEnumerable&lt;string&gt; errors,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[CallerMemberName] string? name = null)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list = errors.ToList();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(list.Count == 0) _errors.Remove(name!);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_errors[name!] = list;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ErrorsChanged?.Invoke(this,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new DataErrorsChangedEventArgs(name));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OnPropertyChanged(nameof(HasErrors));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מילון property → שגיאות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ValidatesOnNotifyDataErrors = ברירת מחדל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SaveCommand = new RelayCommand(Save, () =&gt; !HasErrors)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ולידציה אסינכרונית: setter מפעיל בדיקה, SetErrors כשחוזרת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UpdateSourceTrigger=PropertyChanged על ה-TextBox</a:t>
            </a:r>
            <a:endParaRPr lang="he-I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זה נראה: Validation.ErrorTemplate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9A9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App.xaml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685800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&lt;ControlTemplate x:Key="ErrorTemplate"&gt;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&lt;StackPanel&gt;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&lt;Border BorderBrush="Red" BorderThickness="2"&gt;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&lt;!-- כאן יושב ה-TextBox המקורי --&gt;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&lt;AdornedElementPlaceholder x:Name="Adorner" /&gt;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&lt;/Border&gt;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&lt;TextBlock Foreground="Red" FontSize="11"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Text="{Binding ElementName=Adorner,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Path=AdornedElement.(Validation.Errors)/ErrorContent}" /&gt;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&lt;/StackPanel&gt;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&lt;/ControlTemplate&gt;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&lt;Style TargetType="TextBox"&gt;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&lt;Setter Property="Validation.ErrorTemplate"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Value="{StaticResource ErrorTemplate}" /&gt;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&lt;Style.Triggers&gt;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&lt;Trigger Property="Validation.HasError" Value="True"&gt;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&lt;Setter Property="ToolTip"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Value="{Binding RelativeSource={RelativeSource Self},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Path=(Validation.Errors)/ErrorContent}" /&gt;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&lt;/Trigger&gt;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&lt;/Style.Triggers&gt;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&lt;/Style&gt;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ברירת מחדל: מסגרת אדומה דקה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Adorner layer — מעל הפקד; השאירו Margin תחתון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= הפריט הנוכחי ברשימת השגיאות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על HasError → ToolTip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קלט מספרי: PreviewTextInput + TryParse (הדבקה עוקפת!)</a:t>
            </a:r>
            <a:endParaRPr lang="he-I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דיאלוגים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OpenFileDialog / SaveFileDialog (Microsoft.Win32)</a:t>
            </a:r>
            <a:endParaRPr lang="he-IL" sz="16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Filter="JSON (*.json)|*.json", ShowDialog(this) == true (bool?)</a:t>
            </a:r>
            <a:endParaRPr lang="he-IL" sz="16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OpenFolderDialog מ-.NET 8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דיאלוג מותאם = Window רגיל</a:t>
            </a:r>
            <a:endParaRPr lang="he-IL" sz="16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NameDialog { Owner = this }.ShowDialog()</a:t>
            </a:r>
            <a:endParaRPr lang="he-IL" sz="16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בפנים: DialogResult = true; כפתור IsCancel סוגר לבד</a:t>
            </a:r>
            <a:endParaRPr lang="he-IL" sz="16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CenterOwner, NoResize, ShowInTaskbar=False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אישור: MessageBox.Show(this, ..., YesNo, Warning, MessageBoxResult.No)</a:t>
            </a:r>
            <a:endParaRPr lang="he-IL" sz="16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ברירת מחדל "לא" — Enter בטעות לא ימחק</a:t>
            </a:r>
            <a:endParaRPr lang="he-IL" sz="16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ידידותי למקלדת ונגיש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סדר Tab הגיוני (TabIndex או סדר ה-XAML); פוקוס ראשוני בשדה הראשון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 עם Target ו-_ → Alt+אות מקפיץ לשדה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IsDefault / IsCancel; InputBindings לפעולות תכופות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ToolTip על כל כפתור-אייקון; AutomationProperties.Name לקורא-מסך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רק צבע לשגיאה — גם אייקון/טקסט; כבדו גדלי גופן של המערכת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הבדיקה המהירה: לעבור על הטופס כולו בלי עכבר</a:t>
            </a:r>
            <a:endParaRPr lang="he-IL" sz="18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רשימת בדיקה מלאה ל-UX של טופס ב-Notes/06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3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5835" y="617220"/>
            <a:ext cx="411480" cy="411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65760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2 — Contacts Manager</a:t>
            </a:r>
            <a:endParaRPr lang="he-IL" sz="3200" dirty="0"/>
          </a:p>
        </p:txBody>
      </p:sp>
      <p:sp>
        <p:nvSpPr>
          <p:cNvPr id="5" name="Shape 2"/>
          <p:cNvSpPr/>
          <p:nvPr/>
        </p:nvSpPr>
        <p:spPr>
          <a:xfrm>
            <a:off x="4693615" y="1371600"/>
            <a:ext cx="6949440" cy="4846320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922215" y="150876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המשימות</a:t>
            </a:r>
            <a:endParaRPr lang="he-IL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922215" y="2011680"/>
            <a:ext cx="6492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Contact: SetProperty + OnPropertyChanged(nameof(FullName))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פקודות עם CanExecute: Delete/Cancel/Apply/Save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ValidatableObject: GetErrors + SetErrors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ולידציה: שם חובה, טלפון 9–15 ספרות, אימייל תקין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ICollectionView: Filter לפי Search + SortDescription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JsonContactsStore: LoadAsync/SaveAsync (יום 2!)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DataGrid עם עמודות מפורשות + טופס פרטים מלא; בונוס: InputBindings</a:t>
            </a:r>
            <a:endParaRPr lang="he-IL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37160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87775" y="155448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075" y="166878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" y="155448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</a:t>
            </a:r>
            <a:endParaRPr lang="he-IL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31520" y="205740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MVVM-lite מלא: רשימה + טופס, ולידציה עם INotifyDataErrorInfo, שמירה/טעינה מ-JSON ב-%AppData%.</a:t>
            </a:r>
            <a:endParaRPr lang="he-IL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07848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687775" y="326136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075" y="337566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1520" y="326136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משך</a:t>
            </a:r>
            <a:endParaRPr lang="he-IL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376428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דקות</a:t>
            </a:r>
            <a:endParaRPr lang="he-IL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478536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687775" y="496824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2075" y="5082540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96824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תוצר</a:t>
            </a:r>
            <a:endParaRPr lang="he-IL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547116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אנשי קשר: הוספה/עריכה/מחיקה עם Draft ו-Cancel, חיפוש, שגיאות ליד השדה, Save/Load, אישור בסגירה.</a:t>
            </a:r>
            <a:endParaRPr lang="he-IL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2743200"/>
            <a:ext cx="7315200" cy="7315200"/>
          </a:xfrm>
          <a:prstGeom prst="ellipse">
            <a:avLst/>
          </a:prstGeom>
          <a:solidFill>
            <a:srgbClr val="512BD4">
              <a:alpha val="2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1887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82880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פרוטוטייפינג מהיר</a:t>
            </a:r>
            <a:endParaRPr lang="he-IL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338328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מסקיצה ל-XAML, Styles, UserControls, Hot Reload, ספריות UI, WinForms — והצצה ליום 4</a:t>
            </a:r>
            <a:endParaRPr lang="he-IL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מ-wireframe לחלון שעובד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11002975" y="150876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002975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101800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דק' — סקיצה</a:t>
            </a:r>
            <a:endParaRPr lang="he-IL" sz="1800" dirty="0"/>
          </a:p>
          <a:p>
            <a:pPr algn="r" indent="0" marL="0">
              <a:buNone/>
            </a:pPr>
            <a:r>
              <a:rPr lang="he-IL" altLang="en-US" sz="14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נייר או ASCII. מסכים, מה בכל מסך, הפעולה העיקרית.</a:t>
            </a:r>
            <a:endParaRPr lang="he-IL" sz="1800" dirty="0"/>
          </a:p>
        </p:txBody>
      </p:sp>
      <p:sp>
        <p:nvSpPr>
          <p:cNvPr id="6" name="Shape 4"/>
          <p:cNvSpPr/>
          <p:nvPr/>
        </p:nvSpPr>
        <p:spPr>
          <a:xfrm>
            <a:off x="11002975" y="242316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002975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31720"/>
            <a:ext cx="101800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דק' — שלד</a:t>
            </a:r>
            <a:endParaRPr lang="he-IL" sz="1800" dirty="0"/>
          </a:p>
          <a:p>
            <a:pPr algn="r" indent="0" marL="0">
              <a:buNone/>
            </a:pPr>
            <a:r>
              <a:rPr lang="he-IL" altLang="en-US" sz="14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dotnet new wpf; הפריסה בלבד עם Border-ים אפורים. תרגום: כותרת/סטטוס→DockPanel, טופס→Grid, כרטיסים→UniformGrid/WrapPanel, טבלה→DataGrid AutoGenerate.</a:t>
            </a:r>
            <a:endParaRPr lang="he-IL" sz="1800" dirty="0"/>
          </a:p>
        </p:txBody>
      </p:sp>
      <p:sp>
        <p:nvSpPr>
          <p:cNvPr id="9" name="Shape 7"/>
          <p:cNvSpPr/>
          <p:nvPr/>
        </p:nvSpPr>
        <p:spPr>
          <a:xfrm>
            <a:off x="11002975" y="333756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002975" y="3337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246120"/>
            <a:ext cx="101800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דק' — נתונים מזויפים</a:t>
            </a:r>
            <a:endParaRPr lang="he-IL" sz="1800" dirty="0"/>
          </a:p>
          <a:p>
            <a:pPr algn="r" indent="0" marL="0">
              <a:buNone/>
            </a:pPr>
            <a:r>
              <a:rPr lang="he-IL" altLang="en-US" sz="14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FakeService + ViewModel דק + binding. עכשיו יש מה להראות.</a:t>
            </a:r>
            <a:endParaRPr lang="he-IL" sz="1800" dirty="0"/>
          </a:p>
        </p:txBody>
      </p:sp>
      <p:sp>
        <p:nvSpPr>
          <p:cNvPr id="12" name="Shape 10"/>
          <p:cNvSpPr/>
          <p:nvPr/>
        </p:nvSpPr>
        <p:spPr>
          <a:xfrm>
            <a:off x="11002975" y="425196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002975" y="4251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160520"/>
            <a:ext cx="101800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דק' — ליטוש</a:t>
            </a:r>
            <a:endParaRPr lang="he-IL" sz="1800" dirty="0"/>
          </a:p>
          <a:p>
            <a:pPr algn="r" indent="0" marL="0">
              <a:buNone/>
            </a:pPr>
            <a:r>
              <a:rPr lang="he-IL" altLang="en-US" sz="14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Styles, צבע מודגש אחד, ריווח. עוצרים ב"נראה בסדר".</a:t>
            </a:r>
            <a:endParaRPr lang="he-IL" sz="1800" dirty="0"/>
          </a:p>
        </p:txBody>
      </p:sp>
      <p:sp>
        <p:nvSpPr>
          <p:cNvPr id="15" name="Shape 13"/>
          <p:cNvSpPr/>
          <p:nvPr/>
        </p:nvSpPr>
        <p:spPr>
          <a:xfrm>
            <a:off x="11002975" y="516636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002975" y="5166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074920"/>
            <a:ext cx="101800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הצגה ומשוב</a:t>
            </a:r>
            <a:endParaRPr lang="he-IL" sz="1800" dirty="0"/>
          </a:p>
          <a:p>
            <a:pPr algn="r" indent="0" marL="0">
              <a:buNone/>
            </a:pPr>
            <a:r>
              <a:rPr lang="he-IL" altLang="en-US" sz="14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שממשיכים לבנות. מבנה קודם, צבעים אחר כך.</a:t>
            </a:r>
            <a:endParaRPr lang="he-IL" sz="1800" dirty="0"/>
          </a:p>
        </p:txBody>
      </p:sp>
      <p:sp>
        <p:nvSpPr>
          <p:cNvPr id="18" name="Shape 16"/>
          <p:cNvSpPr/>
          <p:nvPr/>
        </p:nvSpPr>
        <p:spPr>
          <a:xfrm>
            <a:off x="-1097280" y="4846320"/>
            <a:ext cx="2926080" cy="2926080"/>
          </a:xfrm>
          <a:prstGeom prst="ellipse">
            <a:avLst/>
          </a:prstGeom>
          <a:solidFill>
            <a:srgbClr val="512BD4">
              <a:alpha val="1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5852160"/>
            <a:ext cx="1463040" cy="1463040"/>
          </a:xfrm>
          <a:prstGeom prst="ellipse">
            <a:avLst/>
          </a:prstGeom>
          <a:solidFill>
            <a:srgbClr val="FFB020">
              <a:alpha val="25000"/>
            </a:srgbClr>
          </a:solidFill>
          <a:ln w="12700">
            <a:solidFill>
              <a:srgbClr val="FFB020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Styles + ResourceDictionary = theme בשורה אחת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9A9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Themes/*.xaml + App.xaml.cs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685800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Themes/Light.xaml: רק צבעים --&gt;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&lt;SolidColorBrush x:Key="Accent" Color="#512BD4" /&gt;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&lt;SolidColorBrush x:Key="CardBg" Color="#FFFFFF" /&gt;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Themes/Styles.xaml: סגנונות שמפנים לצבעים --&gt;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&lt;Style x:Key="Card" TargetType="Border"&gt;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&lt;Setter Property="Background"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Value="{DynamicResource CardBg}" /&gt;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&lt;Setter Property="CornerRadius" Value="8" /&gt;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&lt;Setter Property="Padding" Value="14" /&gt;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&lt;/Style&gt;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App.xaml --&gt;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&lt;ResourceDictionary.MergedDictionaries&gt;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&lt;ResourceDictionary Source="Themes/Light.xaml" /&gt;   &lt;!-- [0] --&gt;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&lt;ResourceDictionary Source="Themes/Styles.xaml" /&gt;  &lt;!-- [1] --&gt;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&lt;/ResourceDictionary.MergedDictionaries&gt;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החלפת theme בזמן ריצה: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dark = new Uri("Themes/Dark.xaml", UriKind.Relative);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Application.Current.Resources.MergedDictionaries[0] =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 ResourceDictionary { Source = dark };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Style = אוסף Setter-ים; BasedOn = ירושה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Style בלי x:Key = implicit לכל הפקדים מהסוג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ControlTemplate משנה מבנה (כפתור מעוגל)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צבעים נפרד מסגנונות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DynamicResource עוקב אחרי שינויים; Static — לא</a:t>
            </a:r>
            <a:endParaRPr lang="he-I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UserControl לשימוש חוזר: DependencyProperty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9A9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Controls/StatCard.xaml.cs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685800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partial class StatCard : UserControl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static readonly DependencyProperty ValueProperty =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DependencyProperty.Register(nameof(Value), typeof(string),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typeof(StatCard), new PropertyMetadata("0"));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string Value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get =&gt; (string)GetValue(ValueProperty);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set =&gt; SetValue(ValueProperty, value);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StatCard() { InitializeComponent(); }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StatCard.xaml: x:Name="Root" על ה-UserControl --&gt;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&lt;TextBlock Text="{Binding Value, ElementName=Root}" FontSize="30" /&gt;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שימוש בחלון: --&gt;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&lt;c:StatCard Title="Orders" Value="{Binding Snapshot.OrdersToday}"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Accent="{DynamicResource Accent}" /&gt;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DP — binding מבחוץ לא עובד (בשקט)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ElementName=Root, לא DataContext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snippet propdp ב-VS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boilerplate = מועמד מושלם ל-AI (יום 4)</a:t>
            </a:r>
            <a:endParaRPr lang="he-I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עוד מאיצים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9109481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74375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34395" y="176022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38081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XAML Hot Reload</a:t>
            </a:r>
            <a:endParaRPr lang="he-IL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338081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F5, ערכו XAML, שמרו. עובד ל-layout, styles, templates. לא ל-code-behind.</a:t>
            </a:r>
            <a:endParaRPr lang="he-IL" sz="1300" dirty="0"/>
          </a:p>
        </p:txBody>
      </p:sp>
      <p:sp>
        <p:nvSpPr>
          <p:cNvPr id="8" name="Shape 5"/>
          <p:cNvSpPr/>
          <p:nvPr/>
        </p:nvSpPr>
        <p:spPr>
          <a:xfrm>
            <a:off x="6255868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920761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0781" y="176022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84468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d:DataContext</a:t>
            </a:r>
            <a:endParaRPr lang="he-IL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484468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d:DesignInstance Type=vm:DashboardViewModel — המעצב מציג נתונים אמיתיים. mc:Ignorable="d".</a:t>
            </a:r>
            <a:endParaRPr lang="he-IL" sz="1300" dirty="0"/>
          </a:p>
        </p:txBody>
      </p:sp>
      <p:sp>
        <p:nvSpPr>
          <p:cNvPr id="13" name="Shape 9"/>
          <p:cNvSpPr/>
          <p:nvPr/>
        </p:nvSpPr>
        <p:spPr>
          <a:xfrm>
            <a:off x="3402254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067148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168" y="176022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30854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ספריות UI מוכנות</a:t>
            </a:r>
            <a:endParaRPr lang="he-IL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630854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MaterialDesignInXAML, MahApps.Metro, WPF UI (Fluent). NuGet + ResourceDictionary ב-App.xaml. בדקו תיעוד עדכני.</a:t>
            </a:r>
            <a:endParaRPr lang="he-IL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2213534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3554" y="176022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77240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Snippets &amp; scaffolding</a:t>
            </a:r>
            <a:endParaRPr lang="he-IL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777240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propdp, ctor; dotnet new wpf/wpfusercontrollib; תיקיית Mvvm/ להעתקה; או CommunityToolkit.Mvvm.</a:t>
            </a:r>
            <a:endParaRPr lang="he-IL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WinForms: המעצב הגרפי לכלי חד-פעמי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9A9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Day3.Demo.WinForms/MainForm.cs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685800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MainForm : Form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readonly TextBox _nameBox = new() { Dock = DockStyle.Fill };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readonly Button _addButton = new() { Text = "Add" };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readonly ListBox _list = new() { Dock = DockStyle.Fill };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MainForm()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layout = new TableLayoutPanel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Dock = DockStyle.Fill, ColumnCount = 2, RowCount = 2 };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layout.Controls.Add(_nameBox, 0, 0);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layout.Controls.Add(_addButton, 1, 0);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layout.Controls.Add(_list, 0, 1);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layout.SetColumnSpan(_list, 2);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Controls.Add(layout);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AcceptButton = _addButton;   // Enter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_addButton.Click += (_, _) =&gt;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_list.Items.Add(_nameBox.Text); _nameBox.Clear(); };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פקדים = אובייקטים, פריסה = properties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המעצב מייצר בדיוק קוד כזה (Designer.cs)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XAML, binding, MVVM — ומהר מאוד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מתי: כלי פנימי, throwaway, מערכת קיימת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לא: UI מותאם, יחיה שנים</a:t>
            </a:r>
            <a:endParaRPr lang="he-I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0" dirty="0">
                <a:solidFill>
                  <a:srgbClr val="FFB020">
                    <a:alpha val="7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”</a:t>
            </a:r>
            <a:endParaRPr lang="en-US" sz="20000" dirty="0"/>
          </a:p>
        </p:txBody>
      </p:sp>
      <p:sp>
        <p:nvSpPr>
          <p:cNvPr id="3" name="Text 1"/>
          <p:cNvSpPr txBox="1"/>
          <p:nvPr/>
        </p:nvSpPr>
        <p:spPr>
          <a:xfrm>
            <a:off x="2286000" y="1645920"/>
            <a:ext cx="935705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ה-boilerplate שראינו היום — DependencyProperty, Styles, ViewModel עם עשרים properties — הוא טקסט מובנה וחזרתי. מחר נראה איך כלי AI כותבים אותו בשניות, ואיך בודקים שהם צדקו.</a:t>
            </a:r>
            <a:endParaRPr lang="he-IL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4663440"/>
            <a:ext cx="9357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הצצה ליום 4</a:t>
            </a:r>
            <a:endParaRPr lang="he-IL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3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5835" y="617220"/>
            <a:ext cx="411480" cy="411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65760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3 — Products API Client</a:t>
            </a:r>
            <a:endParaRPr lang="he-IL" sz="3200" dirty="0"/>
          </a:p>
        </p:txBody>
      </p:sp>
      <p:sp>
        <p:nvSpPr>
          <p:cNvPr id="5" name="Shape 2"/>
          <p:cNvSpPr/>
          <p:nvPr/>
        </p:nvSpPr>
        <p:spPr>
          <a:xfrm>
            <a:off x="4693615" y="1371600"/>
            <a:ext cx="6949440" cy="4846320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922215" y="150876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המשימות</a:t>
            </a:r>
            <a:endParaRPr lang="he-IL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922215" y="2011680"/>
            <a:ext cx="6492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LoadAsync: CTS + IsBusy + Progress&lt;int&gt; + Status; ProgressBar ושכבת "טוען…"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שגיאות: OperationCanceled → "Cancelled"; HttpRequestException → באנר + Retry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ICollectionView.Filter: חיפוש, קטגוריה, In stock only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HttpProductService עם HttpClient + JSON (קוד מיום 2)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תצוגת כרטיסים (ItemsControl + WrapPanel) מתחת ל-700px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WrapPanel לסרגל העליון; בונוס: F5 / Escape</a:t>
            </a:r>
            <a:endParaRPr lang="he-IL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37160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87775" y="155448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075" y="166878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" y="155448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</a:t>
            </a:r>
            <a:endParaRPr lang="he-IL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31520" y="205740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לקוח WPF מעל REST API: טעינה אסינכרונית עם התקדמות וביטול, שגיאות inline, סינון, פריסה רספונסיבית.</a:t>
            </a:r>
            <a:endParaRPr lang="he-IL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07848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687775" y="326136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075" y="337566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1520" y="326136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משך</a:t>
            </a:r>
            <a:endParaRPr lang="he-IL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376428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דקות</a:t>
            </a:r>
            <a:endParaRPr lang="he-IL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478536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687775" y="496824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2075" y="5082540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96824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תוצר</a:t>
            </a:r>
            <a:endParaRPr lang="he-IL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547116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קטלוג מוצרים שעובד עם FakeProductService (offline) ועם HttpProductService מול Day2.LocalApi.</a:t>
            </a:r>
            <a:endParaRPr lang="he-IL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3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5835" y="617220"/>
            <a:ext cx="411480" cy="411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65760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4 — Rapid Dashboard</a:t>
            </a:r>
            <a:endParaRPr lang="he-IL" sz="3200" dirty="0"/>
          </a:p>
        </p:txBody>
      </p:sp>
      <p:sp>
        <p:nvSpPr>
          <p:cNvPr id="5" name="Shape 2"/>
          <p:cNvSpPr/>
          <p:nvPr/>
        </p:nvSpPr>
        <p:spPr>
          <a:xfrm>
            <a:off x="4693615" y="1371600"/>
            <a:ext cx="6949440" cy="4846320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922215" y="150876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המשימות</a:t>
            </a:r>
            <a:endParaRPr lang="he-IL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922215" y="2011680"/>
            <a:ext cx="6492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Styles: H1, Muted, AccentButton (ControlTemplate קצר)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StatCard: DependencyProperty ל-Value, Subtitle, Accent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כותרת + DispatcherTimer שקורא ל-vm.Tick()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UniformGrid עם 4 כרטיסים קשורים ל-Snapshot.*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ItemsControl + Rectangle = גרף; DataGrid להזמנות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בונוס: Dark.xaml + App.ApplyTheme + Slider ל-RefreshSeconds</a:t>
            </a:r>
            <a:endParaRPr lang="he-IL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137160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87775" y="155448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075" y="166878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" y="155448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</a:t>
            </a:r>
            <a:endParaRPr lang="he-IL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31520" y="205740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מ-wireframe (ASCII) ל-dashboard חי ב-45 דקות: Styles, UserControl, TabControl, DispatcherTimer.</a:t>
            </a:r>
            <a:endParaRPr lang="he-IL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07848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687775" y="326136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075" y="337566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1520" y="326136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משך</a:t>
            </a:r>
            <a:endParaRPr lang="he-IL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376428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דקות (45 + 15 בונוס)</a:t>
            </a:r>
            <a:endParaRPr lang="he-IL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478536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687775" y="496824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2075" y="5082540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96824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תוצר</a:t>
            </a:r>
            <a:endParaRPr lang="he-IL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547116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Ops Dashboard עם 4 StatCard-ים חיים, גרף עמודות, טאב הזמנות ו-Settings; בונוס: theme בהיר/כהה.</a:t>
            </a:r>
            <a:endParaRPr lang="he-IL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הטעויות הנפוצות של היום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x:Class לא תואם / שכחת InitializeComponent → חלון ריק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StackPanel כ-root, Width קבועים → לא רספונסיבי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.Result / Thread.Sleep על ה-UI thread → קפוא או deadlock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List&lt;T&gt; במקום ObservableCollection; property בלי OnPropertyChanged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שכחת DataContext / שגיאת כתיב ב-Path → ריק בשקט (Output window!)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נגיעה בפקד מ-Task.Run בלי Dispatcher → InvalidOperationException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MessageBox לכל שגיאה; ולידציה רק ב-Submit; StaticResource לצבעי theme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5486400" cy="5486400"/>
          </a:xfrm>
          <a:prstGeom prst="ellipse">
            <a:avLst/>
          </a:prstGeom>
          <a:solidFill>
            <a:srgbClr val="512BD4">
              <a:alpha val="30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יום 3</a:t>
            </a:r>
            <a:endParaRPr lang="he-IL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1828800"/>
            <a:ext cx="8351215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WPF = XAML + binding + MVVM; WinForms לכלים מהירים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פריסה ב-panels, star sizing, ולעולם לא לחסום את ה-UI thread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אירועים → Commands; INotifyPropertyChanged + ObservableCollection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 מאחורי ממשק; IsBusy + Progress + Cancel; שגיאות ידידותיות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ולידציה ב-VM; דיאלוגים; מקלדת ונגישות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פרוטוטייפ: מבנה קודם, Styles, UserControls, Hot Reload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מחר: כלי AI לפיתוח — עם כל מה שלמדנו כבסיס לבדיקה</a:t>
            </a:r>
            <a:endParaRPr lang="he-IL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60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שיעורי בית: Lab 3 או Lab 4 (מה שלא הספקתם) + תרגילים 5, 8, 11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3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55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יום 3 — פיתוח GUI מהיר עם WPF</dc:title>
  <dc:subject>PptxGenJS Presentation</dc:subject>
  <dc:creator>PptxGenJS</dc:creator>
  <cp:lastModifiedBy>PptxGenJS</cp:lastModifiedBy>
  <cp:revision>1</cp:revision>
  <dcterms:created xsi:type="dcterms:W3CDTF">2026-09-27T23:46:27Z</dcterms:created>
  <dcterms:modified xsi:type="dcterms:W3CDTF">2026-09-27T23:46:27Z</dcterms:modified>
</cp:coreProperties>
</file>