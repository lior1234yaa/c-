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ברוכים הבאים ליום הראשון. הצגה קצרה של המרצה והמשתתפים: מי כבר תכנת בשפה אחרת? היום הוא הבסיס לכל שאר הקורס — נתחיל בחימום מהיר על השפה ונבנה ממנו את המודל האובייקטי. ודאו שלכולם dotnet --version מדפיס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הפסקות ב-10:30 וב-14:30 (15 דק'), צהריים 12:15–13:00. שני הלאבים האחרונים — אחד בכיתה ואחד בבית, לפי קצב הקבוצה. כל החומרים בתיקיית Notes, וכל דמו הוא פרויקט שאפשר להריץ.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ארבע יכולות — ארבעה לאבים. הדגישו שהיום הוא מעשי: כ-60% מהזמן על המקלדת. מי שכבר מכיר C# יכול לרוץ קדימה עם הבונוסים בלאבים.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מודול קצר ומהיר — 35 דקות. המטרה: שכולם ידברו באותה שפה לפני OOP. מי שמכיר Java/JS ירגיש בבית; שימו לב במיוחד לערך מול הפניה ול-nullable.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הריצו live: dotnet new console, פתחו את ה-csproj והראו את שלוש ההגדרות. הדגישו ש-var עדיין סטטי. ImplicitUsings מסביר למה אין using System בראש הקובץ.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ההבדל החשוב ביותר של היום. הראו ב-Demo.Quickstart: int b = a; b++ לא משפיע על a, אבל arr2 = arr1 ואז arr2[0] = 99 משנה גם את arr1. string הוא הפניה אבל immutable — ToUpper מחזיר מחרוזת חדשה.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הראו את switch expression מול switch רגיל — קצר וקריא. הזכירו את הטעות של 0.1 + 0.2 == 0.3 ב-double. raw string literals (""") לטקסט רב-שורתי.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התבנית TryX/out תחזור במודול 06 (TryParse). tuples נוחים לערכי חזרה מרובים, אבל אם הם נשלחים רחוק — record. הריצו את הדמו והראו את הפלט.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NullReferenceException היא החריגה הנפוצה ביותר ב-.NET. המנגנון הזה תופס את רובן בקומפילציה. הראו את האזהרה ב-IDE ואיך היא נעלמת אחרי בדיקת null. הזהירו מ-! — כמעט תמיד מסתיר באג.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כאן מתחיל OOP. מחלקה = תבנית, אובייקט = מופע. המסר המרכזי: המצב של אובייקט משתנה רק דרך המתודות שלו.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שאלו: למה _balance פרטי? כי אחרת כל אחד יכול לכתוב acc._balance = -1000. Deposit היא השומר בשער. זה הרעיון של אנקפסולציה, נחזור אליו במודול 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property נראה כמו שדה מבחוץ אבל הוא זוג מתודות. זה מה שמאפשר לשנות מימוש בלי לשבור קוד. required + init הוא השילוב המודרני לאובייקטים שחייבים להיות תקינים מהרגע הראשון. הראו ב-Demo.Classes את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הדגישו: בנאי שמאמת חוסך if-ים בכל שאר המחלקה. primary constructor הוא סוכר תחבירי — הפרמטרים לא הופכים ל-properties אוטומטית (בניגוד ל-record). בנאי צריך להיות מהיר — לא קריאות רשת.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כלל אצבע: אם שני אובייקטים עם אותם נתונים הם "אותו דבר" — record. אם הזהות חשובה (שני חשבונות עם אותה יתרה) — class. record מקבל בחינם Equals, GetHashCode, ToString, with, deconstruction.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שאלה טובה לכיתה: מה יקרה אם Count יהיה לא-static? כל אובייקט יספור את עצמו בלבד. הראו ב-Demo.Classes את Product.CreateFreeSample. אחרי השקף — Lab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Labs/Lab1-LibrarySystem/README.md. ה-Starter מתקמפל וכל מתודה זורקת NotImplementedException. עברו בין המשתתפים: הטעות הנפוצה היא set ציבורי על IsBorrowed. מי שסיים — בונוס. 45 דקות ואז הפסקה קצרה.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ארבעת העקרונות הם ארבע תשובות לשאלה אחת: איך לכתוב קוד שאפשר לשנות בלי לשבור? נלמד אותם דרך הכלים של C#.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שקף מסגרת — נחזור לכל כרטיס בנפרד. הדגישו שאלה לא כללים לשינון אלא כלים לצמצום עלות שינוי. ירושה היא הכלי שהכי קל להשתמש בו לא נכון.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internal שימושי כשבונים ספרייה: מחלקות עזר לא צריכות להיות public. protected שדות — עדיף protected מתודות, כי יורשים אחרת תלויים במימוש הפנימי.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טעות נפוצה: מתודה באותו שם בלי override — זה hiding (new), והפולימורפיזם לא עובד. המהדר מזהיר. הבנאי של היורש חייב לקרוא לבנאי האב — כאן דרך primary constructor.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זה הלב של המודול. הריצו את Demo.Polymorphism. שאלו: מה היה קורה בלי פולימורפיזם? switch על סוג הצורה בכל מקום, וכל צורה חדשה = לעדכן את כולם.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הממשק מאפשר ל-Payroll לעבוד עם "כל מה שמשלמים לו" בלי אב משותף. default members — כלי להוסיף מתודה לממשק קיים בלי לשבור מממשים; לא תחליף למחלקת בסיס.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לעיתים קרובות משלבים: ממשק לחוזה, ומחלקה אבסטרקטית שמממשת אותו חלקית לנוחות היורשים. אם מתלבטים — ממשק: הוא מחייב פחות.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כלל אצבע: ירושה למודל דומיין אמיתי (צורות, עובדים); הרכבה לכל השאר. NullLogger בדמו מראה החלפה בלי לגעת ב-OrderService.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המהדר מזהיר על case שלא ניתן להגיע אליו אם הסדר הפוך. הזכירו: pattern matching מצוין לנתונים חיצוניים (JSON, קלט); לדומיין שלכם — פולימורפיזם.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הראו ב-Demo.Polymorphism: HashSet&lt;Money&gt; עם שני אובייקטים שווים מכיל 1. בלי GetHashCode עקבי, האוסף "מאבד" איברים. זו הסיבה העיקרית ש-records קיימים. אחרי השקף — Lab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Labs/Lab2-ShapesAndEmployees/README.md. חלק א' (צורות) 15 דקות, חלק ב' 45. השאלה שהכי שווה לדון בה: למה Contractor לא יורש מ-Employee? אחרי הלאב — הפסקה ואז אוספים.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המסר: לכל צורך יש אוסף נכון, והבחירה נקבעת לפי הפעולה שחוזרת הכי הרבה. הטבלה עם Big-O היא הכלי.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מערכים הם הבסיס — List&lt;T&gt; בנוי עליהם. הראו ^1 ו-ranges, הם חדשים למי שמגיע מ-Java. Length למערך, Count ל-List.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שני האוספים שתשתמשו בהם 90% מהזמן. הדגישו את TryGetValue — התבנית Try חוזרת. capacity: new List&lt;int&gt;(100_000) חוסך הכפלות. Demo.Collections חלקים 2–3.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תרגיל 9 בתרגילים מבקש לבחור אוסף לכל תרחיש — שווה לעשות אותו בכיתה בעל-פה. IEnumerable אין לו Count/אינדקס/Add — רק מעבר.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הראו בדיבאגר: breakpoint בתוך Evens ותראו שהוא נכנס רק כשה-foreach מבקש. זה מכין את הקרקע ל-LINQ במודול הבא.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בלי constraint, T הוא כמו object — אי אפשר לקרוא item.Id. הדגישו את האינדקס: List לסדר + Dictionary לחיפוש — זיכרון זול, סריקה יקרה.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הטבלה המלאה במודול 04. הדוגמה של 100K מסבירה למה זה משנה: ההבדל בין שנייה לדקות. * = amortized — לפעמים הקצאה מחדש.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IReadOnlyList חוזר בכל הלאבים — זו אנקפסולציה של אוספים. Span רק כדי שיכירו את השם; רוב ה-API של .NET מקבל אותו. ImmutableList כשצריך אוסף שבאמת לא משתנה.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עד עכשיו העברנו נתונים למתודות. עכשיו נעביר התנהגות: "סנן לפי התנאי הזה", "כשקורה X — הודע לי". LINQ בנוי על זה.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Demo.LinqDelegates חלק 1. שאלו: כמה מתודות FindBy... הייתם כותבים בלי זה? Find(Func&lt;T,bool&gt;) אחת מחליפה את כולן — זה Lab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אירועים הם הבסיס ל-WPF/WinForms ביום 4 — כל לחיצה היא event. הזכירו לשחרר מנויים (-=) מאובייקטים ארוכי-חיים. Lab 3 משתמש ב-LowStock.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שורה אחת במקום לולאה + if + רשימה זמנית. הראו ב-Demo.LinqDelegates חלק 4. First זורק כשאין — FirstOrDefault + בדיקת null.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הנקודה הכי חשובה ב-LINQ ומקור לבאגים מבלבלים. הראו בדיבאגר breakpoint בתוך ה-lambda — הוא נעצר רק ב-string.Join. Lab 3 מדגים את זה בסוף.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Reports ב-Lab 3 היא static class של פונקציות טהורות. ApplyDiscount בדמו מחזיר Cart חדש בלי לגעת בישן. אחרי השקף — Lab 3 (או דילוג ל-06 ו-Lab 4 לפי הזמן).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Labs/Lab3-InventoryLinq/README.md. Models.cs ו-Program.cs כבר כתובים — העבודה ב-Inventory.cs ו-Reports.cs. הנקודה הפדגוגית: ApplyToCategory צריך ToList() לפני הלולאה — הסבירו למה.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תוכנה נכשלת. השאלה היא איך: הודעה ברורה, מצב עקבי, משאבים משוחררים. ואז — הכלי שיחסוך הכי הרבה שעות: הדיבאגר.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Demo.Exceptions חלקים 1–3. הראו את ההבדל בין throw; ל-throw ex; בפלט — ה-stack מתחיל במקום אחר. CA2200 מזהיר על זה. catch (Exception) { } ריק הוא הפשע הנפוץ ביותר.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מתי חריגה משלכם? כשלמטפל יש מה לעשות עם המידע (Shortfall) או כשצריך להבחין בין שגיאות עסקיות לטכניות. Lab 4 בונה בדיוק את ההיררכיה הזו.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ההבחנה החשובה: חריגה למצבים חריגים, ערך חזרה לתוצאות שגרתיות (חיפוש שלא מצא, קלט שגוי). Demo.Exceptions חלקים 4–6. TryGetValue, TryAdd, TryDequeue — אותה תבנית.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Console.WriteLine הוא לא דיבוג. השיטה: שחזור → השערה → צעדים → אימות. כשיש חריגה — Exception Settings + Call Stack מראים את המקור ולא את הסימפטום.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4 מתרגל כל אחד מהכלים האלה על באגים אמיתיים. ב-VS Code: אותם מושגים ב-Run and Debug עם launch.json. Debug.Assert להנחות פנימיות, לא לוולידציית קלט.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מודול קצר — 10 דקות — כי הרעיונות פשוטים והתרגול הוא בלאבים. קוד נקרא הרבה יותר ממה שהוא נכתב.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מה השתנה: שמות, enum במקום 1/2, קבועים במקום מספרי קסם, הכפילות if (m) r -= 5 יצאה החוצה, switch expression, decimal לכסף. אותה התנהגות — תרגיל 14 בודק. refactoring = שינוי מבנה בלי שינוי התנהגות, בצעדים קטנים.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לא לשינון — לזיהוי. שאלו לכל כרטיס: איפה ראינו את זה היום? O = פולימורפיזם (Lab 2), D = OrderService(ILogger), I = IPayable קטן. אזהרה: הפשטה מוקדמת גרועה כמו כפילות.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dotnet new editorconfig יוצר קובץ ברירת מחדל. Extract Method: Ctrl+R, Ctrl+M; Rename: Ctrl+R, Ctrl+R. עכשיו — Lab 4, שמחבר חריגות, דיבוג וקוד נקי.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Labs/Lab4-BankRobust/README.md. רשימת הבאגים המלאה ב-Solution/NOTES.md — אל תחשפו אותה מראש. עודדו לעבוד עם הדיבאגר ולא עם Console.WriteLine. אפשר כשיעורי בית אם הזמן קצר.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רגע לעצור לפני הסיכום. שאלו: איזה כלי מהיום תשתמשו בו כבר מחר בעבודה?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סיכום ושאלות. ודאו שכולם יודעים איפה החומרים (Notes, Demos, Labs). הכנה ליום 2: Lab 3 ו-Lab 4 מושלמים — נבנה עליהם JSON ו-async.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image" Target="../media/image-48-4.png"/><Relationship Id="rId5" Type="http://schemas.openxmlformats.org/officeDocument/2006/relationships/image" Target="../media/image-48-5.png"/><Relationship Id="rId6" Type="http://schemas.openxmlformats.org/officeDocument/2006/relationships/image" Target="../media/image-4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image" Target="../media/image-51-4.png"/><Relationship Id="rId5" Type="http://schemas.openxmlformats.org/officeDocument/2006/relationships/image" Target="../media/image-51-5.png"/><Relationship Id="rId6" Type="http://schemas.openxmlformats.org/officeDocument/2006/relationships/image" Target="../media/image-5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image" Target="../media/image-5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512BD4">
              <a:alpha val="30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3200400"/>
            <a:ext cx="4114800" cy="4114800"/>
          </a:xfrm>
          <a:prstGeom prst="ellipse">
            <a:avLst/>
          </a:prstGeom>
          <a:solidFill>
            <a:srgbClr val="7C5CE6">
              <a:alpha val="25000"/>
            </a:srgbClr>
          </a:solidFill>
          <a:ln w="12700">
            <a:solidFill>
              <a:srgbClr val="7C5CE6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FFB020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5000" dirty="0"/>
          </a:p>
        </p:txBody>
      </p:sp>
      <p:sp>
        <p:nvSpPr>
          <p:cNvPr id="5" name="Text 3"/>
          <p:cNvSpPr txBox="1"/>
          <p:nvPr/>
        </p:nvSpPr>
        <p:spPr>
          <a:xfrm>
            <a:off x="5120640" y="100584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</a:t>
            </a:r>
            <a:endParaRPr lang="he-IL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645920"/>
            <a:ext cx="6492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תכנות מונחה-עצמים, אוספים וטיפול בחריגות</a:t>
            </a:r>
            <a:endParaRPr lang="he-IL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3749040"/>
            <a:ext cx="6492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2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מהבסיס של C# ועד קוד שלא נופל: מחלקות, ירושה, LINQ, חריגות ודיבוג</a:t>
            </a:r>
            <a:endParaRPr lang="he-IL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52120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יום 1 מתוך 4  |  09:00–16:30</a:t>
            </a:r>
            <a:endParaRPr lang="he-IL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סדר היום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09:15 — מודול 01: חימום C#</a:t>
            </a:r>
            <a:endParaRPr lang="he-IL" sz="18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 ראשונה, טיפוסים, בקרת זרימה, מתודות, nullable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09:50 — מודול 02: מחלקות, אובייקטים, properties, בנאים, records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10:45 — Lab 1: מערכת ספרייה (45 דק')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11:30 — מודול 03: אנקפסולציה, ירושה, פולימורפיזם, ממשקים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13:00 — Lab 2: צורות ועובדים (60 דק')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14:00 — מודולים 04–05: אוספים, גנריקה, delegates, LINQ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15:15 — מודולים 06–07: חריגות, דיבוג, קוד נקי  →  Lab 3 / Lab 4</a:t>
            </a:r>
            <a:endParaRPr lang="he-IL" sz="18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נדע לעשות בסוף היום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9109481" y="1371600"/>
            <a:ext cx="2533574" cy="4846320"/>
          </a:xfrm>
          <a:prstGeom prst="roundRect">
            <a:avLst>
              <a:gd name="adj" fmla="val 541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74375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4395" y="17602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338081" y="2377440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לכתוב C# מודרני</a:t>
            </a:r>
            <a:endParaRPr lang="he-IL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338081" y="2880360"/>
            <a:ext cx="207637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top-level statements, var, אינטרפולציה, switch expressions, nullable</a:t>
            </a:r>
            <a:endParaRPr lang="he-IL" sz="1300" dirty="0"/>
          </a:p>
        </p:txBody>
      </p:sp>
      <p:sp>
        <p:nvSpPr>
          <p:cNvPr id="8" name="Shape 5"/>
          <p:cNvSpPr/>
          <p:nvPr/>
        </p:nvSpPr>
        <p:spPr>
          <a:xfrm>
            <a:off x="6255868" y="1371600"/>
            <a:ext cx="2533574" cy="4846320"/>
          </a:xfrm>
          <a:prstGeom prst="roundRect">
            <a:avLst>
              <a:gd name="adj" fmla="val 541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920761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781" y="17602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84468" y="2377440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לעצב מחלקות</a:t>
            </a:r>
            <a:endParaRPr lang="he-IL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84468" y="2880360"/>
            <a:ext cx="207637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properties, בנאים, records, ירושה, ממשקים, פולימורפיזם</a:t>
            </a:r>
            <a:endParaRPr lang="he-IL" sz="1300" dirty="0"/>
          </a:p>
        </p:txBody>
      </p:sp>
      <p:sp>
        <p:nvSpPr>
          <p:cNvPr id="13" name="Shape 9"/>
          <p:cNvSpPr/>
          <p:nvPr/>
        </p:nvSpPr>
        <p:spPr>
          <a:xfrm>
            <a:off x="3402254" y="1371600"/>
            <a:ext cx="2533574" cy="4846320"/>
          </a:xfrm>
          <a:prstGeom prst="roundRect">
            <a:avLst>
              <a:gd name="adj" fmla="val 541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067148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168" y="17602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630854" y="2377440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לנהל נתונים</a:t>
            </a:r>
            <a:endParaRPr lang="he-IL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630854" y="2880360"/>
            <a:ext cx="207637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List, Dictionary, HashSet, גנריקה, LINQ, אירועים</a:t>
            </a:r>
            <a:endParaRPr lang="he-IL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1371600"/>
            <a:ext cx="2533574" cy="4846320"/>
          </a:xfrm>
          <a:prstGeom prst="roundRect">
            <a:avLst>
              <a:gd name="adj" fmla="val 541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2213534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3554" y="17602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77240" y="2377440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לכתוב קוד עמיד</a:t>
            </a:r>
            <a:endParaRPr lang="he-IL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2880360"/>
            <a:ext cx="207637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חריגות, guard clauses, using, דיבאגר, קוד נקי</a:t>
            </a:r>
            <a:endParaRPr lang="he-IL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512BD4">
              <a:alpha val="28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4389120" y="182880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חימום C#</a:t>
            </a:r>
            <a:endParaRPr lang="he-IL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338328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 ראשונה, טיפוסים, בקרת זרימה, מתודות, nullable</a:t>
            </a:r>
            <a:endParaRPr lang="he-IL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 ראשונה: dotnet new + top-level statements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9A9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Program.cs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68580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dotnet new console -n HelloApp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cd HelloApp &amp;&amp; dotnet run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Console.WriteLine("Hello, .NET!");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age = 30;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name = "Dana";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isActive = true;        // המהדר מסיק bool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Console.WriteLine($"{name} is {age}");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טיפוסים חייבים לבוא אחרי ההוראות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Person(string Name, int Age);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אין Main — המהדר עוטף בשבילנו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הקובץ .csproj: TargetFramework, Nullable, ImplicitUsings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 = הסקת טיפוס, לא טיפוס דינמי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הצהרות טיפוסים תמיד בסוף הקובץ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dotnet run = build + run</a:t>
            </a:r>
            <a:endParaRPr lang="he-IL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טיפוסי ערך מול טיפוסי הפניה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6324448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53048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ערך (value types)</a:t>
            </a:r>
            <a:endParaRPr lang="he-IL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53048" y="2103120"/>
            <a:ext cx="486140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int, double, bool, decimal, DateTime, struct, enum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המשתנה מכיל את הערך עצמו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השמה = העתקה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ברירת מחדל: 0 / false</a:t>
            </a:r>
            <a:endParaRPr lang="he-IL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הפניה (reference types)</a:t>
            </a:r>
            <a:endParaRPr lang="he-IL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03120"/>
            <a:ext cx="486140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string, מערכים, class, record, List&lt;T&gt;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המשתנה מכיל "כתובת" לאובייקט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השמה = שני שמות לאותו אובייקט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ברירת מחדל: null</a:t>
            </a:r>
            <a:endParaRPr lang="he-IL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מחרוזות, אינטרפולציה ובקרת זרימה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full = $"{first} {last}";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money = $"{1234.5:N2}";          // 1,234.50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table = $"{name,-10}|{42,5}";    // יישור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(age &gt;= 18 &amp;&amp; isActive) { }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grade = score switch            // switch expression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&gt;= 90 =&gt; "A",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&gt;= 80 =&gt; "B",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     =&gt; "F",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(var item in items) { }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3; i++) { }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(n &lt; 3) { n++; }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$"..." — אינטרפולציה עם פורמטים (:N2, :F1, :P0)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expression מחזיר ערך ומכסה את כל המקרים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foreach — הדרך המועדפת לעבור על אוסף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decimal לכסף (סיומת m), לא double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מתודות: expression-bodied, out, tuples, אופציונלי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Add(int x, int y) =&gt; x + y;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string Greet(string who, string greeting = "Hello")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=&gt; $"{greeting}, {who}!";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bool TryDivide(double x, double y, out double result)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(y == 0) { result = 0; return false; }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x / y;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true;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(int Min, int Max) MinMax(int[] v) =&gt; (v.Min(), v.Max());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Greet("Yossi", greeting: "שלום");        // named argument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(TryDivide(10, 2, out var q)) { }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(min, max) = MinMax([4, 9, 1]);       // deconstruction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=&gt; למתודה של שורה אחת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— ערך חזרה נוסף (תבנית Try...)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tuple עם שמות במקום מחלקה זמנית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functions ב-top-level — static לבהירות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Nullable reference types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string? input = Console.ReadLine();     // יכול להיות null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len = input.Length;                 // ⚠ CS8602 possible null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len2 = input?.Length ?? 0;          // ?. ואז ??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(input is not null)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Console.WriteLine(input.Length);    // כאן המהדר יודע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safe = input ?? "";              // ברירת מחדל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forced = input!;                 // "אני מבטיח" — להימנע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= לעולם לא null; string? = אולי null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אזהרות nullable הן באגים עתידיים — תקנו, אל תשתיקו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?. ו-?? הם הכלים היומיומיים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ReadLine מחזיר null בסוף הקלט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512BD4">
              <a:alpha val="28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4389120" y="182880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מחלקות ואובייקטים</a:t>
            </a:r>
            <a:endParaRPr lang="he-IL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338328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class, new, properties, בנאים, static, records</a:t>
            </a:r>
            <a:endParaRPr lang="he-IL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מחלקה, אובייקט ו-new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9A9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BankAccount.cs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68580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BankAccount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decimal _balance;                 // שדה פרטי — מצב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Owner { get; set; } = "";   // property — API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Deposit(decimal amount)       // מתודה — התנהגות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(amount &lt;= 0)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new ArgumentOutOfRangeException(nameof(amount));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_balance += amount;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decimal Balance =&gt; _balance;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acc = new BankAccount { Owner = "Dana" };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acc.Deposit(500);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Console.WriteLine($"{acc.Owner}: {acc.Balance}");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מחלקה = תבנית; אובייקט = מופע עם מצב משלו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שדות פרטיים (_camelCase), API ציבורי (PascalCase)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המצב משתנה רק דרך מתודות — אנקפסולציה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initializer: new X { Prop = ... }</a:t>
            </a:r>
            <a:endParaRPr lang="he-IL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סוגי properties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8158277" y="137160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11535" y="160020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7265" y="172593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86877" y="22402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he-IL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386877" y="274320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string Name { get; set; } — המהדר יוצר שדה נסתר</a:t>
            </a:r>
            <a:endParaRPr lang="he-IL" sz="1200" dirty="0"/>
          </a:p>
        </p:txBody>
      </p:sp>
      <p:sp>
        <p:nvSpPr>
          <p:cNvPr id="8" name="Shape 5"/>
          <p:cNvSpPr/>
          <p:nvPr/>
        </p:nvSpPr>
        <p:spPr>
          <a:xfrm>
            <a:off x="4353458" y="137160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06717" y="160020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447" y="172593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82058" y="22402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set</a:t>
            </a:r>
            <a:endParaRPr lang="he-IL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582058" y="274320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decimal Balance { get; private set; } — קריאה לכולם, כתיבה רק מבפנים</a:t>
            </a:r>
            <a:endParaRPr lang="he-IL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137160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301898" y="160020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7628" y="172593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77240" y="22402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 / required</a:t>
            </a:r>
            <a:endParaRPr lang="he-IL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274320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required string Sku { get; init; } — חובה ביצירה, ואז read-only</a:t>
            </a:r>
            <a:endParaRPr lang="he-IL" sz="1200" dirty="0"/>
          </a:p>
        </p:txBody>
      </p:sp>
      <p:sp>
        <p:nvSpPr>
          <p:cNvPr id="18" name="Shape 13"/>
          <p:cNvSpPr/>
          <p:nvPr/>
        </p:nvSpPr>
        <p:spPr>
          <a:xfrm>
            <a:off x="8158277" y="395478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911535" y="418338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7265" y="430911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386877" y="482346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computed</a:t>
            </a:r>
            <a:endParaRPr lang="he-IL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8386877" y="532638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decimal PriceWithVat =&gt; Price * 1.18m; — מחושב בכל קריאה, בלי שדה</a:t>
            </a:r>
            <a:endParaRPr lang="he-IL" sz="1200" dirty="0"/>
          </a:p>
        </p:txBody>
      </p:sp>
      <p:sp>
        <p:nvSpPr>
          <p:cNvPr id="23" name="Shape 17"/>
          <p:cNvSpPr/>
          <p:nvPr/>
        </p:nvSpPr>
        <p:spPr>
          <a:xfrm>
            <a:off x="4353458" y="395478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106717" y="418338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447" y="4309110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582058" y="482346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עם ולידציה</a:t>
            </a:r>
            <a:endParaRPr lang="he-IL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4582058" y="532638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=&gt; _stock = value &gt;= 0 ? value : throw new ArgumentOutOfRangeException()</a:t>
            </a:r>
            <a:endParaRPr lang="he-IL" sz="1200" dirty="0"/>
          </a:p>
        </p:txBody>
      </p:sp>
      <p:sp>
        <p:nvSpPr>
          <p:cNvPr id="28" name="Shape 21"/>
          <p:cNvSpPr/>
          <p:nvPr/>
        </p:nvSpPr>
        <p:spPr>
          <a:xfrm>
            <a:off x="548640" y="395478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3301898" y="418338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7628" y="4309110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77240" y="482346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</a:t>
            </a:r>
            <a:endParaRPr lang="he-IL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777240" y="532638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string Id { get; } — נקבע רק בבנאי</a:t>
            </a:r>
            <a:endParaRPr lang="he-IL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בנאים: overloads, this(...), primary constructor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BankAccount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Id { get; }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Owner { get; set; }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BankAccount(string id, string owner)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ArgumentException.ThrowIfNullOrWhiteSpace(id);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Id = id;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Owner = owner;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BankAccount(string id, string owner, decimal initial)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this(id, owner) =&gt; Deposit(initial);     // שרשור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C# 12 — primary constructor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Sensor(string location, double initial)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readonly List&lt;double&gt; _readings = [initial];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Location =&gt; location;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הבנאי אחראי להביא את האובייקט למצב תקין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ולידציה פעם אחת — בכניסה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this(...) מונע כפילות בין בנאים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constructor: פרמטרים זמינים בכל המחלקה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מול class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6324448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53048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— ישות עם זהות</a:t>
            </a:r>
            <a:endParaRPr lang="he-IL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53048" y="2103120"/>
            <a:ext cx="486140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שוויון לפי הפניה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מצב שמשתנה לאורך זמן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BankAccount, Order, Library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ToString = שם הטיפוס (אלא אם דורסים)</a:t>
            </a:r>
            <a:endParaRPr lang="he-IL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— נתונים</a:t>
            </a:r>
            <a:endParaRPr lang="he-IL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4952848" cy="3931920"/>
          </a:xfrm>
          <a:prstGeom prst="roundRect">
            <a:avLst>
              <a:gd name="adj" fmla="val 232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194560"/>
            <a:ext cx="4769968" cy="3749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Person(string Name, int Age);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p1 = new Person("Dana", 30);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p2 = new Person("Dana", 30);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 == p2;            // True (לפי ערך)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Console.WriteLine(p1);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Person { Name = Dana, Age = 30 }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older = p1 with { Age = 31 };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(name, age) = older;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static: שייך למחלקה, לא לאובייקט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decimal MinDeposit = 10m; — קבוע בזמן קומפילציה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int Count { get; private set; } — משותף לכל המופעים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BankAccount OpenSavings(string owner) — factory method</a:t>
            </a:r>
            <a:endParaRPr lang="he-IL" sz="18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שם משמעותי במקום בנאי מספר 4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class MathUtils — ארגז כלים, אי אפשר ליצור מופע</a:t>
            </a:r>
            <a:endParaRPr lang="he-IL" sz="18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Math, Console, File הן כאלה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מתודה סטטית לא יכולה לגשת ל-this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— ההפניה לאובייקט הנוכחי; לרוב לא צריך לכתוב אותו</a:t>
            </a:r>
            <a:endParaRPr lang="he-IL" sz="18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5835" y="6172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6576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 — מערכת ספרייה</a:t>
            </a:r>
            <a:endParaRPr lang="he-IL" sz="3200" dirty="0"/>
          </a:p>
        </p:txBody>
      </p:sp>
      <p:sp>
        <p:nvSpPr>
          <p:cNvPr id="5" name="Shape 2"/>
          <p:cNvSpPr/>
          <p:nvPr/>
        </p:nvSpPr>
        <p:spPr>
          <a:xfrm>
            <a:off x="4693615" y="1371600"/>
            <a:ext cx="6949440" cy="484632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922215" y="15087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המשימות</a:t>
            </a:r>
            <a:endParaRPr lang="he-IL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922215" y="2011680"/>
            <a:ext cx="6492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Book: Isbn (read-only), Title, Author, Year, IsBorrowed (private set), Age מחושב</a:t>
            </a:r>
            <a:endParaRPr lang="he-IL" sz="14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בנאי עם ArgumentException.ThrowIfNullOrWhiteSpace ובדיקת שנה</a:t>
            </a:r>
            <a:endParaRPr lang="he-IL" sz="14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 / Return שזורקות InvalidOperationException על מצב לא חוקי</a:t>
            </a:r>
            <a:endParaRPr lang="he-IL" sz="14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Library: AddBook (ISBN ייחודי), SearchByTitle, SearchByAuthor, FindByIsbn</a:t>
            </a:r>
            <a:endParaRPr lang="he-IL" sz="14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 כ-IReadOnlyList&lt;Book&gt;; GetAvailable ממוין לפי כותרת</a:t>
            </a:r>
            <a:endParaRPr lang="he-IL" sz="14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הסירו את ההערות ב-Seed והריצו את כל התפריט</a:t>
            </a:r>
            <a:endParaRPr lang="he-IL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87775" y="155448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75" y="166878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" y="155448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המטרה</a:t>
            </a:r>
            <a:endParaRPr lang="he-IL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205740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לבנות Book עם properties ובנאי שמאמת, ו-Library שמנהלת List&lt;Book&gt;: הוספה, חיפוש, השאלה והחזרה.</a:t>
            </a:r>
            <a:endParaRPr lang="he-IL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07848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87775" y="326136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75" y="337566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31520" y="326136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משך</a:t>
            </a:r>
            <a:endParaRPr lang="he-IL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376428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דקות</a:t>
            </a:r>
            <a:endParaRPr lang="he-IL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478536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687775" y="496824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2075" y="50825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" y="496824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תוצר</a:t>
            </a:r>
            <a:endParaRPr lang="he-IL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547116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שעובר את כל קריטריוני הקבלה ב-README; בונוס: BorrowedCount, Oldest, DueDate.</a:t>
            </a:r>
            <a:endParaRPr lang="he-IL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512BD4">
              <a:alpha val="28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4389120" y="182880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עקרונות OOP</a:t>
            </a:r>
            <a:endParaRPr lang="he-IL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338328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אנקפסולציה · ירושה · פולימורפיזם · ממשקים · הפשטה</a:t>
            </a:r>
            <a:endParaRPr lang="he-IL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ארבעה עקרונות, שאלה אחת: איך משנים בלי לשבור?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9109481" y="1371600"/>
            <a:ext cx="2533574" cy="4846320"/>
          </a:xfrm>
          <a:prstGeom prst="roundRect">
            <a:avLst>
              <a:gd name="adj" fmla="val 541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74375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4395" y="17602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338081" y="2377440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אנקפסולציה</a:t>
            </a:r>
            <a:endParaRPr lang="he-IL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338081" y="2880360"/>
            <a:ext cx="207637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המצב פרטי, ה-API קטן. שינוי מימוש לא שובר את המשתמשים.</a:t>
            </a:r>
            <a:endParaRPr lang="he-IL" sz="1300" dirty="0"/>
          </a:p>
        </p:txBody>
      </p:sp>
      <p:sp>
        <p:nvSpPr>
          <p:cNvPr id="8" name="Shape 5"/>
          <p:cNvSpPr/>
          <p:nvPr/>
        </p:nvSpPr>
        <p:spPr>
          <a:xfrm>
            <a:off x="6255868" y="1371600"/>
            <a:ext cx="2533574" cy="4846320"/>
          </a:xfrm>
          <a:prstGeom prst="roundRect">
            <a:avLst>
              <a:gd name="adj" fmla="val 541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920761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781" y="17602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84468" y="2377440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ירושה</a:t>
            </a:r>
            <a:endParaRPr lang="he-IL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84468" y="2880360"/>
            <a:ext cx="207637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מחלקה נגזרת מקבלת ומרחיבה מחלקת בסיס. רק ליחסי "הוא סוג של".</a:t>
            </a:r>
            <a:endParaRPr lang="he-IL" sz="1300" dirty="0"/>
          </a:p>
        </p:txBody>
      </p:sp>
      <p:sp>
        <p:nvSpPr>
          <p:cNvPr id="13" name="Shape 9"/>
          <p:cNvSpPr/>
          <p:nvPr/>
        </p:nvSpPr>
        <p:spPr>
          <a:xfrm>
            <a:off x="3402254" y="1371600"/>
            <a:ext cx="2533574" cy="4846320"/>
          </a:xfrm>
          <a:prstGeom prst="roundRect">
            <a:avLst>
              <a:gd name="adj" fmla="val 541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067148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168" y="17602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630854" y="2377440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פולימורפיזם</a:t>
            </a:r>
            <a:endParaRPr lang="he-IL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630854" y="2880360"/>
            <a:ext cx="207637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קריאה אחת, התנהגות לפי הטיפוס האמיתי. מחליף switch על סוגים.</a:t>
            </a:r>
            <a:endParaRPr lang="he-IL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1371600"/>
            <a:ext cx="2533574" cy="4846320"/>
          </a:xfrm>
          <a:prstGeom prst="roundRect">
            <a:avLst>
              <a:gd name="adj" fmla="val 541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2213534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3554" y="17602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77240" y="2377440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הפשטה</a:t>
            </a:r>
            <a:endParaRPr lang="he-IL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2880360"/>
            <a:ext cx="207637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תלות בחוזה (ממשק / abstract), לא במימוש. אפשר להחליף מימוש.</a:t>
            </a:r>
            <a:endParaRPr lang="he-IL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אנקפסולציה: access modifiers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— רק המחלקה עצמה (ברירת המחדל לחברים)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— המחלקה ויורשיה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— כל הקוד באותו פרויקט (ברירת המחדל למחלקות)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— כולם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internal / private protected — שילובים נדירים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הכלל: התחילו מ-private, הרחיבו רק כשצריך</a:t>
            </a:r>
            <a:endParaRPr lang="he-IL" sz="18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פחות שטח ציבורי = פחות מה שיכול להישבר</a:t>
            </a:r>
            <a:endParaRPr lang="he-IL" sz="18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ירושה: virtual, override, base, sealed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Employee(int id, string name)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int Id { get; } = id;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Name { get; } = name;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virtual decimal MonthlyPay() =&gt; 0;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virtual string Describe() =&gt; $"#{Id} {Name}";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Manager(int id, string name, decimal salary, decimal bonus)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Employee(id, name)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override decimal MonthlyPay() =&gt; salary / 12 + bonus;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override string Describe()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=&gt; base.Describe() + " (manager)";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sealed class Intern(int id, string name) : Employee(id, name)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override decimal MonthlyPay() =&gt; 3_000;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— מותר לדרוס; override — דורס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base.X() — המימוש של האב (להרחיב, לא להחליף)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sealed — סוף ההיררכיה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ירושה יחידה בלבד; ממשקים — כמה שרוצים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is-a אמיתי בלבד: מנהל הוא עובד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+ פולימורפיזם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 class Shape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abstract double Area();                  // חובה לממש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virtual string Describe()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=&gt; $"{GetType().Name} area={Area():F2}";    // משותף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Circle(double r) : Shape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override double Area() =&gt; Math.PI * r * r;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Rect(double w, double h) : Shape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override double Area() =&gt; w * h;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List&lt;Shape&gt; shapes = [new Circle(1), new Rect(2, 3)];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(var s in shapes)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Console.WriteLine(s.Describe());   // כל אחד לפי הטיפוס שלו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total = shapes.Sum(s =&gt; s.Area());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class — אי אפשר new Shape()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method — הצהרה בלי גוף, יורש חייב לממש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משתמש ב-Area שעוד לא קיים — נפתר בזמן ריצה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הלולאה לא תשתנה כשנוסיף Triangle — Open/Closed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ממשקים: חוזה בלי מימוש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IPayable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PayeeName { get; }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decimal MonthlyPay();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default member (C# 8+)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PaySlip() =&gt; $"{PayeeName}: {MonthlyPay():N2}";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Contractor(string company, decimal fee) : IPayable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PayeeName =&gt; company;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decimal MonthlyPay() =&gt; fee;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List&lt;IPayable&gt; payroll =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Manager(1, "Noa", 360_000, 2_000),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Contractor("Acme", 12_000),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(var p in payroll) Console.WriteLine(p.PaySlip());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קבלן הוא לא עובד — אבל משלמים לו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מחלקה מממשת כמה ממשקים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member: מימוש ברירת מחדל, נגיש דרך הממשק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IComparable&lt;T&gt;, IEnumerable&lt;T&gt;, IDisposable — ממשקי .NET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class או interface?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6324448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53048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class</a:t>
            </a:r>
            <a:endParaRPr lang="he-IL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53048" y="2103120"/>
            <a:ext cx="486140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ירושה אחת בלבד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שדות, בנאים, מימוש משותף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יחס is-a חזק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Shape, Employee</a:t>
            </a:r>
            <a:endParaRPr lang="he-IL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he-IL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03120"/>
            <a:ext cx="486140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שרוצים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חוזה (+ default members)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יכולת: can-do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IPayable, IDisposable, IComparable</a:t>
            </a:r>
            <a:endParaRPr lang="he-IL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Composition over inheritance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שירות הזמנות "הוא" לוגר?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OrderService : ConsoleLogger { }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יש לו לוגר — וכל לוגר יתאים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ILogger { void Log(string message); }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ConsoleLogger : ILogger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Log(string m) =&gt; Console.WriteLine(m);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OrderService(ILogger logger)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Place(string id)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logger.Log($"placing {id}");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svc = new OrderService(new ConsoleLogger());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ירושה = הקשר החזק ביותר; היורש תלוי בכל פרט של האב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has-a במקום is-a לרוב המקרים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 להחליף מימוש: קובץ, fake לבדיקות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 הבסיס ל-Dependency Injection (יום 2)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/ as / pattern matching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(shape is Circle c) Console.WriteLine(c.Radius);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rect = shape as Rectangle;        // null אם לא מתאים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forced = (Rectangle)shape;        // InvalidCastException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label = shape switch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Circle { Radius: &gt; 10 } =&gt; "big circle",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Circle c                =&gt; $"circle r={c.Radius}",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Rectangle { Width: var w, Height: var h } when w == h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=&gt; "square-ish",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null                    =&gt; "nothing",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                       =&gt; "other",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— בדיקה + המרה + משתנה חדש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pattern { Prop: תנאי }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— תנאי נוסף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סדר: ספציפי לפני כללי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על טיפוסים בכל מקום? אולי חסר virtual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ToString, Equals, GetHashCode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Money(decimal amount, string currency)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decimal Amount =&gt; amount;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Currency =&gt; currency;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override bool Equals(object? obj) =&gt;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obj is Money o &amp;&amp; o.Amount == Amount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&amp;&amp; o.Currency == Currency;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override int GetHashCode()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=&gt; HashCode.Combine(Amount, Currency);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override string ToString()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=&gt; $"{Amount} {Currency}";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או פשוט: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Money(decimal Amount, string Currency);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ברירת מחדל: Equals לפי הפניה, ToString = שם הטיפוס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Equals ו-GetHashCode — תמיד יחד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Dictionary / HashSet מסתמכים עליהם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עושה את כל זה אוטומטית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5835" y="6172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6576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 — צורות ועובדים</a:t>
            </a:r>
            <a:endParaRPr lang="he-IL" sz="3200" dirty="0"/>
          </a:p>
        </p:txBody>
      </p:sp>
      <p:sp>
        <p:nvSpPr>
          <p:cNvPr id="5" name="Shape 2"/>
          <p:cNvSpPr/>
          <p:nvPr/>
        </p:nvSpPr>
        <p:spPr>
          <a:xfrm>
            <a:off x="4693615" y="1371600"/>
            <a:ext cx="6949440" cy="484632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922215" y="15087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המשימות</a:t>
            </a:r>
            <a:endParaRPr lang="he-IL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922215" y="2011680"/>
            <a:ext cx="6492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abstract: Name, Area(), Perimeter(), ToString משותף</a:t>
            </a:r>
            <a:endParaRPr lang="he-IL" sz="14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Triangle מאמת אי-שוויון המשולש בבנאי; Square : Rectangle, sealed</a:t>
            </a:r>
            <a:endParaRPr lang="he-IL" sz="14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IPayable עם default member PaySlip()</a:t>
            </a:r>
            <a:endParaRPr lang="he-IL" sz="14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abstract : IPayable; Salaried / Hourly (שעות נוספות ×1.5)</a:t>
            </a:r>
            <a:endParaRPr lang="he-IL" sz="14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: SalariedEmployee עם Bonus ו-Reports; base.CalculateMonthlyPay()</a:t>
            </a:r>
            <a:endParaRPr lang="he-IL" sz="14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Contractor מממש IPayable בלי לרשת מ-Employee; Payroll עם List&lt;IPayable&gt;</a:t>
            </a:r>
            <a:endParaRPr lang="he-IL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87775" y="155448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75" y="166878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" y="155448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המטרה</a:t>
            </a:r>
            <a:endParaRPr lang="he-IL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205740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שתי היררכיות: Shape אבסטרקטית (Circle/Rectangle/Triangle/Square) ו-payroll עם Employee, Manager, HourlyEmployee ו-Contractor דרך IPayable.</a:t>
            </a:r>
            <a:endParaRPr lang="he-IL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07848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87775" y="326136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75" y="337566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31520" y="326136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משך</a:t>
            </a:r>
            <a:endParaRPr lang="he-IL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376428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דקות</a:t>
            </a:r>
            <a:endParaRPr lang="he-IL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478536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687775" y="496824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2075" y="50825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" y="496824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תוצר</a:t>
            </a:r>
            <a:endParaRPr lang="he-IL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547116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תלושי שכר לכל IPayable (סה"כ 78,000 עם נתוני הדוגמה), Describe רק לעובדים, ובונוס switch עם patterns.</a:t>
            </a:r>
            <a:endParaRPr lang="he-IL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512BD4">
              <a:alpha val="28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4389120" y="182880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אוספים וגנריקה</a:t>
            </a:r>
            <a:endParaRPr lang="he-IL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338328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מערכים, List, Dictionary, HashSet, Queue/Stack, IEnumerable, Repository&lt;T&gt;</a:t>
            </a:r>
            <a:endParaRPr lang="he-IL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מערכים: 1D, 2D, jagged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scores = [90, 75, 88];           // collection expression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zeros = new int[5];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Console.WriteLine(scores[0]);           // 90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Console.WriteLine(scores[^1]);          // 88 — מהסוף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tail = scores[1..];               // range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Array.Sort(scores);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int[,] grid = { { 1, 2, 3 }, { 4, 5, 6 } };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Console.WriteLine(grid[1, 2]);          // 6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Console.WriteLine(grid.GetLength(0));   // 2 שורות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int[][] jagged = [[1], [2, 3], [4, 5, 6]];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Console.WriteLine(jagged[2].Length);    // 3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גודל קבוע, גישה O(1) לפי אינדקס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אינדקס מתחיל ב-0; ^1 מהסוף; a..b טווח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למטריצה מלבנית; jagged לשורות באורך שונה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מערך הוא reference type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List&lt;T&gt; ו-Dictionary&lt;K,V&gt;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names = new List&lt;string&gt; { "Dana", "Yossi" };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names.Add("Noa");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names.Remove("Yossi");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has = names.Contains("Noa");       // O(n)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Console.WriteLine(names.Count);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stock = new Dictionary&lt;string, int&gt;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["apple"] = 10,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stock["cherry"] = 25;                   // הוספה / עדכון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stock["apple"] += 5;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(stock.TryGetValue("kiwi", out int q)) { }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(var (fruit, qty) in stock)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Console.WriteLine($"{fruit}: {qty}");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byName = new Dictionary&lt;string, Product&gt;(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StringComparer.OrdinalIgnoreCase);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— מערך שיודע לגדול; Count, לא Length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Dictionary — מפתח → ערך, חיפוש O(1)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dict[key] על מפתח חסר → KeyNotFoundException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TryGetValue / GetValueOrDefault / TryAdd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StringComparer למפתחות לא תלויי רישיות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HashSet, Queue, Stack, IEnumerable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9109481" y="1371600"/>
            <a:ext cx="2533574" cy="4846320"/>
          </a:xfrm>
          <a:prstGeom prst="roundRect">
            <a:avLst>
              <a:gd name="adj" fmla="val 541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74375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4395" y="17602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338081" y="2377440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HashSet&lt;T&gt;</a:t>
            </a:r>
            <a:endParaRPr lang="he-IL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338081" y="2880360"/>
            <a:ext cx="207637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קבוצה בלי כפילויות, Contains O(1). Add מחזיר false אם קיים. UnionWith / IntersectWith.</a:t>
            </a:r>
            <a:endParaRPr lang="he-IL" sz="1300" dirty="0"/>
          </a:p>
        </p:txBody>
      </p:sp>
      <p:sp>
        <p:nvSpPr>
          <p:cNvPr id="8" name="Shape 5"/>
          <p:cNvSpPr/>
          <p:nvPr/>
        </p:nvSpPr>
        <p:spPr>
          <a:xfrm>
            <a:off x="6255868" y="1371600"/>
            <a:ext cx="2533574" cy="4846320"/>
          </a:xfrm>
          <a:prstGeom prst="roundRect">
            <a:avLst>
              <a:gd name="adj" fmla="val 541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920761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781" y="17602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84468" y="2377440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Queue&lt;T&gt; — FIFO</a:t>
            </a:r>
            <a:endParaRPr lang="he-IL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84468" y="2880360"/>
            <a:ext cx="207637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Enqueue / Dequeue / Peek. עיבוד לפי סדר הגעה: משימות, הדפסה.</a:t>
            </a:r>
            <a:endParaRPr lang="he-IL" sz="1300" dirty="0"/>
          </a:p>
        </p:txBody>
      </p:sp>
      <p:sp>
        <p:nvSpPr>
          <p:cNvPr id="13" name="Shape 9"/>
          <p:cNvSpPr/>
          <p:nvPr/>
        </p:nvSpPr>
        <p:spPr>
          <a:xfrm>
            <a:off x="3402254" y="1371600"/>
            <a:ext cx="2533574" cy="4846320"/>
          </a:xfrm>
          <a:prstGeom prst="roundRect">
            <a:avLst>
              <a:gd name="adj" fmla="val 541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067148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168" y="17602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630854" y="2377440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Stack&lt;T&gt; — LIFO</a:t>
            </a:r>
            <a:endParaRPr lang="he-IL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630854" y="2880360"/>
            <a:ext cx="207637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/ Pop / Peek. Undo, ניווט אחורה, פרסינג.</a:t>
            </a:r>
            <a:endParaRPr lang="he-IL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1371600"/>
            <a:ext cx="2533574" cy="4846320"/>
          </a:xfrm>
          <a:prstGeom prst="roundRect">
            <a:avLst>
              <a:gd name="adj" fmla="val 541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2213534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3554" y="17602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77240" y="2377440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IEnumerable&lt;T&gt;</a:t>
            </a:r>
            <a:endParaRPr lang="he-IL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2880360"/>
            <a:ext cx="207637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המכנה המשותף: "אפשר לעבור עליי עם foreach". קבלו אותו כפרמטר.</a:t>
            </a:r>
            <a:endParaRPr lang="he-IL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return — IEnumerable לפי דרישה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IEnumerable&lt;int&gt; Evens(int max)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&lt;= max; i += 2)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return i;      // החזר איבר אחד, המשך בפעם הבאה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(var n in Evens(10))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Console.Write($"{n} ");           // 0 2 4 6 8 10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מיליון איברים? רק 3 מחושבים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first3 = Evens(1_000_000).Take(3);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המתודה לא רצה עד שעוברים על התוצאה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אין רשימה זמנית בזיכרון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 הבסיס ל-deferred execution של LINQ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 לשרשר: Where, Take, Select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גנריקה: Repository&lt;T&gt; עם constraint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IEntity { int Id { get; } }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Repository&lt;T&gt; where T : IEntity        // constraint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readonly List&lt;T&gt; _items = [];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readonly Dictionary&lt;int, T&gt; _byId = [];   // אינדקס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IReadOnlyList&lt;T&gt; All =&gt; _items;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Add(T item)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(!_byId.TryAdd(item.Id, item))          // כי T : IEntity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new InvalidOperationException($"Id {item.Id}");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_items.Add(item);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T? GetById(int id) =&gt; _byId.GetValueOrDefault(id);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Customer(int Id, string Name) : IEntity;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repo = new Repository&lt;Customer&gt;();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— placeholder לטיפוס; נקבע בשימוש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 : IEntity — מה מותר לעשות עם T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constraints: class, struct, new(), IComparable&lt;T&gt;, notnull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List&lt;T&gt; ו-Dictionary&lt;K,V&gt; בנויים בדיוק כך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מתודה גנרית: static T Max&lt;T&gt;(T a, T b) where T : IComparable&lt;T&gt;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בחירת האוסף הנכון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T[] — גודל קבוע, הכי מהיר: אינדקס O(1), חיפוש O(n)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List&lt;T&gt; — רשימה כללית: אינדקס O(1), Add O(1)*, Contains O(n)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Dictionary&lt;K,V&gt; — מפתח → ערך: חיפוש/הוספה/הסרה O(1)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HashSet&lt;T&gt; — ייחודיות ושייכות: O(1)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Queue&lt;T&gt; / Stack&lt;T&gt; — סדר עיבוד: O(1)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SortedDictionary&lt;K,V&gt; — מיון תמידי: O(log n)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השאלות: סדר? חיפוש לפי מפתח? כפילויות? כמה איברים?</a:t>
            </a:r>
            <a:endParaRPr lang="he-IL" sz="18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List.Contains בלולאה על 100K = 10 מיליארד השוואות; HashSet = 100K</a:t>
            </a:r>
            <a:endParaRPr lang="he-IL" sz="18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IReadOnlyList&lt;T&gt; וניהול נתונים יעיל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Library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readonly List&lt;Book&gt; _books = [];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❌ public List&lt;Book&gt; Books =&gt; _books;   // כל אחד יכול Clear()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✅ רואים, לא משנים: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IReadOnlyList&lt;Book&gt; Books =&gt; _books;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Add(Book b) { /* ולידציה */ _books.Add(b); }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big = new List&lt;int&gt;(capacity: 100_000);   // בלי הכפלות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Span&lt;int&gt; window = data.AsSpan(2, 4);          // חלון בלי העתקה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List&lt;T&gt; מממש IReadOnlyList&lt;T&gt; — אין העתקה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כשיודעים את הגודל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ToList() רק כשצריך צילום מצב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StringBuilder לבניית מחרוזת בלולאה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Span&lt;T&gt; — לביצועים גבוהים, לא ליום-יום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מדדו לפני שמייעלים (Stopwatch)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512BD4">
              <a:alpha val="28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4389120" y="182880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Delegates, Lambdas, Events ו-LINQ</a:t>
            </a:r>
            <a:endParaRPr lang="he-IL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338328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להעביר התנהגות, לא רק נתונים</a:t>
            </a:r>
            <a:endParaRPr lang="he-IL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Delegates, Func/Action ו-lambdas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delegate int MathOp(int a, int b);          // טיפוס של מתודה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MathOp add = (a, b) =&gt; a + b;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Console.WriteLine(add(2, 3));               // 5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Apply(int x, int y, MathOp op) =&gt; op(x, y);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Apply(10, 4, (a, b) =&gt; a - b);              // התנהגות כפרמטר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המובנים של .NET — כמעט תמיד מספיקים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Func&lt;int, int, int&gt; power = (b, e) =&gt; (int)Math.Pow(b, e);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Action&lt;string&gt; shout = s =&gt; Console.WriteLine(s.ToUpper());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Predicate&lt;int&gt; isEven = n =&gt; n % 2 == 0;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Func&lt;int&gt; answer = () =&gt; 42;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pipeline = () =&gt; Console.Write("1 ");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+= () =&gt; Console.Write("2 ");     // multicast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pipeline();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 = מתודה כערך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Func&lt;..., TResult&gt; מחזיר; Action לא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lambda: (פרמטרים) =&gt; ביטוי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multicast (+=) — הבסיס לאירועים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Closures ואירועים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Func&lt;int&gt; MakeCounter()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count = 0;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() =&gt; ++count;        // count "נלכד"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next = MakeCounter();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next(); next(); next();          // 1 2 3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Thermometer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event EventHandler&lt;TempArgs&gt;? Changed;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Set(double value)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... עדכון ...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Changed?.Invoke(this, new TempArgs(value));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t = new Thermometer();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t.Changed += (sender, e) =&gt; Console.WriteLine(e.Value);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t.Changed += (_, e) =&gt; { if (e.Value &gt; 30) TurnOnAC(); };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 לוכד את המשתנה, לא את הערך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= delegate שמבחוץ רק += / -=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EventHandler&lt;T&gt; — (sender, e) — המוסכמה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?.Invoke — אם אין מנויים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ה-publisher לא מכיר את המנויים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LINQ — תיאור מה, לא איך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names = orders.Where(o =&gt; o.Total &gt; 100)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.Select(o =&gt; o.Customer);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sorted = orders.OrderByDescending(o =&gt; o.Total)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.ThenBy(o =&gt; o.Customer);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(var g in orders.GroupBy(o =&gt; o.Category))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Console.WriteLine($"{g.Key}: {g.Count()} orders");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first = orders.First(o =&gt; o.Category == "Books");   // זורק אם אין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maybe = orders.FirstOrDefault(o =&gt; o.Total &gt; 5000);  // null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any = orders.Any(o =&gt; o.Total &gt; 1000);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 max = orders.Max(o =&gt; o.Total);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Dictionary&lt;string, decimal&gt; perCustomer = orders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.GroupBy(o =&gt; o.Customer)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.ToDictionary(g =&gt; g.Key, g =&gt; g.Sum(o =&gt; o.Total));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/ Select / OrderBy / GroupBy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/ FirstOrDefault / Single / Any / All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/ Sum / Max / Average / MinBy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ToList / ToDictionary / ToHashSet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/ Take לעימוד; Distinct; Chunk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syntax (from … where … select) — אותו דבר, תחביר SQL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Deferred execution — השאילתה רצה בצריכה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numbers = new List&lt;int&gt; { 1, 2, 3 };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evens = numbers.Where(n =&gt; n % 2 == 0);   // כלום לא קרה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numbers.Add(4);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Console.WriteLine(string.Join(",", evens));    // 2,4 — רץ עכשיו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snapshot = numbers.Where(n =&gt; n % 2 == 0).ToList();  // מקפיא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numbers.Add(6);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Console.WriteLine(string.Join(",", snapshot)); // 2,4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Where/Select/OrderBy בונים תוכנית — לא מבצעים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foreach / ToList / Count / First מבצעים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שאילתה שנצרכת פעמיים רצה פעמיים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חריגה ב-lambda נזרקת בזמן הצריכה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ToList() כשצריך תוצאה יציבה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סגנון פונקציונלי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פונקציות טהורות: אותם קלטים → אותו פלט, בלי תופעות לוואי</a:t>
            </a:r>
            <a:endParaRPr lang="he-IL" sz="18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קל לבדוק, קל להרכיב, בטוח ב-threads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אי-שינוי: record + with, IReadOnlyList, ImmutableList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הרכבה: מתודות קטנות שמקבלות ומחזירות Func / IEnumerable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הפרדה בין חישוב ל-I/O: חשבו בטהור, הדפיסו בחוץ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LINQ לחישוב; foreach לתופעות לוואי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הכל חייב להיות פונקציונלי — אבל כשאפשר, עדיף</a:t>
            </a:r>
            <a:endParaRPr lang="he-IL" sz="18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3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5835" y="6172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6576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3 — מלאי עם LINQ, delegates ואירועים</a:t>
            </a:r>
            <a:endParaRPr lang="he-IL" sz="3200" dirty="0"/>
          </a:p>
        </p:txBody>
      </p:sp>
      <p:sp>
        <p:nvSpPr>
          <p:cNvPr id="5" name="Shape 2"/>
          <p:cNvSpPr/>
          <p:nvPr/>
        </p:nvSpPr>
        <p:spPr>
          <a:xfrm>
            <a:off x="4693615" y="1371600"/>
            <a:ext cx="6949440" cy="484632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922215" y="15087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המשימות</a:t>
            </a:r>
            <a:endParaRPr lang="he-IL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922215" y="2011680"/>
            <a:ext cx="6492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Dictionary&lt;string, StockItem&gt; ו-HashSet&lt;string&gt; עם StringComparer.OrdinalIgnoreCase</a:t>
            </a:r>
            <a:endParaRPr lang="he-IL" sz="14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EventHandler&lt;LowStockEventArgs&gt;? LowStock; הפעלה ב-Sell עם ?.Invoke</a:t>
            </a:r>
            <a:endParaRPr lang="he-IL" sz="14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Find(Func&lt;StockItem, bool&gt;) ו-ApplyToCategory(string, Action&lt;StockItem&gt;)</a:t>
            </a:r>
            <a:endParaRPr lang="he-IL" sz="14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Reports: TotalValue, ByCategory (GroupBy), TopByValue, LowStock, PriceIndex (ToDictionary)</a:t>
            </a:r>
            <a:endParaRPr lang="he-IL" sz="14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מנוי לאירוע ב-Program שמדפיס אזהרה</a:t>
            </a:r>
            <a:endParaRPr lang="he-IL" sz="14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בונוס: SkusInBoth (IntersectWith), query syntax, הדגמת deferred execution</a:t>
            </a:r>
            <a:endParaRPr lang="he-IL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87775" y="155448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75" y="166878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" y="155448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המטרה</a:t>
            </a:r>
            <a:endParaRPr lang="he-IL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205740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עם Dictionary לפי SKU ו-HashSet לקטגוריות, Find(Func) ו-ApplyToCategory(Action), אירוע LowStock, ודוחות LINQ טהורים.</a:t>
            </a:r>
            <a:endParaRPr lang="he-IL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07848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87775" y="326136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75" y="337566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31520" y="326136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משך</a:t>
            </a:r>
            <a:endParaRPr lang="he-IL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376428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דקות</a:t>
            </a:r>
            <a:endParaRPr lang="he-IL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478536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687775" y="496824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2075" y="50825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" y="496824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תוצר</a:t>
            </a:r>
            <a:endParaRPr lang="he-IL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547116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הרצה שמדפיסה אזהרות LOW STOCK בזמן מכירות, דוחות לפי קטגוריה / Top 3 / מלאי נמוך, ובונוס deferred execution.</a:t>
            </a:r>
            <a:endParaRPr lang="he-IL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512BD4">
              <a:alpha val="28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4389120" y="182880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חריגות ודיבוג</a:t>
            </a:r>
            <a:endParaRPr lang="he-IL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338328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try/catch/finally, when, throw;, using, guard clauses, TryParse, הדיבאגר</a:t>
            </a:r>
            <a:endParaRPr lang="he-IL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/ catch / finally / when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count = int.Parse(File.ReadAllText(path));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Console.WriteLine(100 / count);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(FileNotFoundException ex)                 // ספציפי קודם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Console.WriteLine($"missing: {ex.FileName}");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(InsufficientFundsException ex) when (ex.Shortfall &gt; 1000)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Escalate(ex);                                // exception filter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(Exception ex)                             // כללי — אחרון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logger.Log(ex);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throw;                                       // לא throw ex;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Console.WriteLine("always");                 // ניקוי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ה-catch הראשון שמתאים מטפל — ספציפי לפני כללי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finally רץ תמיד: אחרי return, continue, חריגה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— תפיסה מותנית, בלי לפרוש את ה-stack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throw; שומר stack trace; throw ex; מוחק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ריק = בליעת שגיאות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חריגות מותאמות אישית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בסיס לכל חריגות הדומיין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BankException(string message) : Exception(message);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InsufficientFundsException(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accountId, decimal requested, decimal available)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BankException(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$"Insufficient funds in {accountId}: " +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$"requested {requested:N2}, available {available:N2}")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AccountId { get; } = accountId;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decimal Requested { get; } = requested;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decimal Available { get; } = available;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decimal Shortfall =&gt; Requested - Available;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עטיפה בלי לאבד מידע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 new DataAccessException("load failed", innerException: ex);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סיומת Exception, ירושה מ-Exception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הודעה ברורה שנבנית בבנאי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 לנתונים שהמטפל צריך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היררכיה: catch (BankException) אחד לכל השגיאות העסקיות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InnerException כשעוטפים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using, guard clauses ו-TryParse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(var writer = new StreamWriter("log.txt"))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writer.WriteLine("hello");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// Dispose() — גם אם הייתה חריגה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var reader = new StreamReader("data.csv");   // עד סוף הבלוק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Transfer(Account? from, Account? to, decimal amount)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ArgumentNullException.ThrowIfNull(from);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ArgumentNullException.ThrowIfNull(to);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ArgumentOutOfRangeException.ThrowIfNegativeOrZero(amount);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ArgumentException.ThrowIfNullOrEmpty(from.Id);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מכאן — הכל תקין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(int.TryParse(input, out int age) &amp;&amp; age is &gt;= 0 and &lt;= 120)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Console.WriteLine($"ok {age}");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Console.WriteLine("enter a number 0-120");   // בלי חריגה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= try/finally שקורא ל-Dispose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בלי using: קובץ נעול, buffer לא נכתב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 clauses: נכשלים מוקדם, בכניסה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ThrowIfNull / ThrowIfNullOrEmpty / ThrowIfNegative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קלט צפוי = TryParse; הפרת כלל = throw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אסטרטגיית דיבוג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11002975" y="150876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002975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e-IL" altLang="en-US" sz="18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שחזרו</a:t>
            </a:r>
            <a:endParaRPr lang="he-IL" sz="1800" dirty="0"/>
          </a:p>
          <a:p>
            <a:pPr algn="r" indent="0" marL="0">
              <a:buNone/>
            </a:pPr>
            <a:r>
              <a:rPr lang="he-IL" altLang="en-US" sz="14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הביאו את הבאג למצב דטרמיניסטי: אותו קלט, אותה תוצאה. בלי זה אין מה לדבג.</a:t>
            </a:r>
            <a:endParaRPr lang="he-IL" sz="1800" dirty="0"/>
          </a:p>
        </p:txBody>
      </p:sp>
      <p:sp>
        <p:nvSpPr>
          <p:cNvPr id="6" name="Shape 4"/>
          <p:cNvSpPr/>
          <p:nvPr/>
        </p:nvSpPr>
        <p:spPr>
          <a:xfrm>
            <a:off x="11002975" y="242316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002975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3172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e-IL" altLang="en-US" sz="18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שערו</a:t>
            </a:r>
            <a:endParaRPr lang="he-IL" sz="1800" dirty="0"/>
          </a:p>
          <a:p>
            <a:pPr algn="r" indent="0" marL="0">
              <a:buNone/>
            </a:pPr>
            <a:r>
              <a:rPr lang="he-IL" altLang="en-US" sz="14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איפה הערך "מתקלקל"? שימו breakpoint לפני המקום החשוד, לא אחריו.</a:t>
            </a:r>
            <a:endParaRPr lang="he-IL" sz="1800" dirty="0"/>
          </a:p>
        </p:txBody>
      </p:sp>
      <p:sp>
        <p:nvSpPr>
          <p:cNvPr id="9" name="Shape 7"/>
          <p:cNvSpPr/>
          <p:nvPr/>
        </p:nvSpPr>
        <p:spPr>
          <a:xfrm>
            <a:off x="11002975" y="333756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002975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24612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e-IL" altLang="en-US" sz="18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צעדו</a:t>
            </a:r>
            <a:endParaRPr lang="he-IL" sz="1800" dirty="0"/>
          </a:p>
          <a:p>
            <a:pPr algn="r" indent="0" marL="0">
              <a:buNone/>
            </a:pPr>
            <a:r>
              <a:rPr lang="he-IL" altLang="en-US" sz="14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F10 שורה-שורה עם Watch על המשתנים המעורבים. F11 להיכנס למתודה, Shift+F11 לצאת.</a:t>
            </a:r>
            <a:endParaRPr lang="he-IL" sz="1800" dirty="0"/>
          </a:p>
        </p:txBody>
      </p:sp>
      <p:sp>
        <p:nvSpPr>
          <p:cNvPr id="12" name="Shape 10"/>
          <p:cNvSpPr/>
          <p:nvPr/>
        </p:nvSpPr>
        <p:spPr>
          <a:xfrm>
            <a:off x="11002975" y="425196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002975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16052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e-IL" altLang="en-US" sz="18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בדקו השערות</a:t>
            </a:r>
            <a:endParaRPr lang="he-IL" sz="1800" dirty="0"/>
          </a:p>
          <a:p>
            <a:pPr algn="r" indent="0" marL="0">
              <a:buNone/>
            </a:pPr>
            <a:r>
              <a:rPr lang="he-IL" altLang="en-US" sz="14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Window: הקלידו ביטויים (_accounts.Keys, Calc(5)) בלי לשנות קוד.</a:t>
            </a:r>
            <a:endParaRPr lang="he-IL" sz="1800" dirty="0"/>
          </a:p>
        </p:txBody>
      </p:sp>
      <p:sp>
        <p:nvSpPr>
          <p:cNvPr id="15" name="Shape 13"/>
          <p:cNvSpPr/>
          <p:nvPr/>
        </p:nvSpPr>
        <p:spPr>
          <a:xfrm>
            <a:off x="11002975" y="516636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002975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07492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e-IL" altLang="en-US" sz="18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תקנו ובדקו</a:t>
            </a:r>
            <a:endParaRPr lang="he-IL" sz="1800" dirty="0"/>
          </a:p>
          <a:p>
            <a:pPr algn="r" indent="0" marL="0">
              <a:buNone/>
            </a:pPr>
            <a:r>
              <a:rPr lang="he-IL" altLang="en-US" sz="14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&amp; Continue, הריצו שוב את השחזור. רצוי — כתבו בדיקה (יום 2).</a:t>
            </a:r>
            <a:endParaRPr lang="he-IL" sz="1800" dirty="0"/>
          </a:p>
        </p:txBody>
      </p:sp>
      <p:sp>
        <p:nvSpPr>
          <p:cNvPr id="18" name="Shape 16"/>
          <p:cNvSpPr/>
          <p:nvPr/>
        </p:nvSpPr>
        <p:spPr>
          <a:xfrm>
            <a:off x="-1097280" y="4846320"/>
            <a:ext cx="2926080" cy="2926080"/>
          </a:xfrm>
          <a:prstGeom prst="ellipse">
            <a:avLst/>
          </a:prstGeom>
          <a:solidFill>
            <a:srgbClr val="512BD4">
              <a:alpha val="18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5852160"/>
            <a:ext cx="1463040" cy="1463040"/>
          </a:xfrm>
          <a:prstGeom prst="ellipse">
            <a:avLst/>
          </a:prstGeom>
          <a:solidFill>
            <a:srgbClr val="FFB020">
              <a:alpha val="25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ארגז הכלים של הדיבאגר (Visual Studio)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8158277" y="137160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11535" y="160020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7265" y="172593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86877" y="22402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Breakpoints</a:t>
            </a:r>
            <a:endParaRPr lang="he-IL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386877" y="274320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F9; קליק ימני → Conditions: amount &gt; 1000, Hit Count. Run to Cursor: Ctrl+F10.</a:t>
            </a:r>
            <a:endParaRPr lang="he-IL" sz="1200" dirty="0"/>
          </a:p>
        </p:txBody>
      </p:sp>
      <p:sp>
        <p:nvSpPr>
          <p:cNvPr id="8" name="Shape 5"/>
          <p:cNvSpPr/>
          <p:nvPr/>
        </p:nvSpPr>
        <p:spPr>
          <a:xfrm>
            <a:off x="4353458" y="137160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06717" y="160020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447" y="172593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82058" y="22402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/ Locals / DataTips</a:t>
            </a:r>
            <a:endParaRPr lang="he-IL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582058" y="274320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ביטויים חיים תוך כדי צעדים; ריחוף מעל משתנה; הצמדה עם סיכה.</a:t>
            </a:r>
            <a:endParaRPr lang="he-IL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137160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301898" y="160020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7628" y="172593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77240" y="22402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Window</a:t>
            </a:r>
            <a:endParaRPr lang="he-IL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274320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Ctrl+Alt+I — הריצו ביטויים ומתודות על המצב הנוכחי.</a:t>
            </a:r>
            <a:endParaRPr lang="he-IL" sz="1200" dirty="0"/>
          </a:p>
        </p:txBody>
      </p:sp>
      <p:sp>
        <p:nvSpPr>
          <p:cNvPr id="18" name="Shape 13"/>
          <p:cNvSpPr/>
          <p:nvPr/>
        </p:nvSpPr>
        <p:spPr>
          <a:xfrm>
            <a:off x="8158277" y="395478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911535" y="418338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7265" y="430911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386877" y="482346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Stack</a:t>
            </a:r>
            <a:endParaRPr lang="he-IL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8386877" y="532638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Ctrl+Alt+C — איך הגעתי לכאן? לחיצה כפולה קופצת לפריים.</a:t>
            </a:r>
            <a:endParaRPr lang="he-IL" sz="1200" dirty="0"/>
          </a:p>
        </p:txBody>
      </p:sp>
      <p:sp>
        <p:nvSpPr>
          <p:cNvPr id="23" name="Shape 17"/>
          <p:cNvSpPr/>
          <p:nvPr/>
        </p:nvSpPr>
        <p:spPr>
          <a:xfrm>
            <a:off x="4353458" y="395478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106717" y="418338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447" y="4309110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582058" y="482346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Settings</a:t>
            </a:r>
            <a:endParaRPr lang="he-IL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4582058" y="532638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Ctrl+Alt+E — break when thrown: לעצור במקום הזריקה, לא ב-catch.</a:t>
            </a:r>
            <a:endParaRPr lang="he-IL" sz="1200" dirty="0"/>
          </a:p>
        </p:txBody>
      </p:sp>
      <p:sp>
        <p:nvSpPr>
          <p:cNvPr id="28" name="Shape 21"/>
          <p:cNvSpPr/>
          <p:nvPr/>
        </p:nvSpPr>
        <p:spPr>
          <a:xfrm>
            <a:off x="548640" y="395478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3301898" y="418338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7628" y="4309110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77240" y="482346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&amp; Continue + Debug.Assert</a:t>
            </a:r>
            <a:endParaRPr lang="he-IL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777240" y="532638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שנו קוד בזמן השהיה; Assert בודק הנחות ב-Debug ונמחק ב-Release.</a:t>
            </a:r>
            <a:endParaRPr lang="he-IL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512BD4">
              <a:alpha val="28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4389120" y="182880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קוד נקי</a:t>
            </a:r>
            <a:endParaRPr lang="he-IL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338328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שמות, מתודות קטנות, SOLID, DRY, dotnet format, refactoring</a:t>
            </a:r>
            <a:endParaRPr lang="he-IL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Refactoring — לפני ואחרי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6324448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53048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לפני</a:t>
            </a:r>
            <a:endParaRPr lang="he-IL" sz="2000" dirty="0"/>
          </a:p>
        </p:txBody>
      </p:sp>
      <p:sp>
        <p:nvSpPr>
          <p:cNvPr id="5" name="Shape 3"/>
          <p:cNvSpPr/>
          <p:nvPr/>
        </p:nvSpPr>
        <p:spPr>
          <a:xfrm>
            <a:off x="6507328" y="2103120"/>
            <a:ext cx="4952848" cy="3931920"/>
          </a:xfrm>
          <a:prstGeom prst="roundRect">
            <a:avLst>
              <a:gd name="adj" fmla="val 232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98768" y="2194560"/>
            <a:ext cx="4769968" cy="3749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double c(double a, int t, bool m)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r = 0;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(t == 1) { r = a * 0.9; if (m) r = r - 5; }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if (t == 2) { r = a * 0.8; if (m) r = r - 5; }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{ r = a; if (m) r = r - 5; }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(r &lt; 0) r = 0;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 * 1.18;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אחרי</a:t>
            </a:r>
            <a:endParaRPr lang="he-IL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4952848" cy="3931920"/>
          </a:xfrm>
          <a:prstGeom prst="roundRect">
            <a:avLst>
              <a:gd name="adj" fmla="val 232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194560"/>
            <a:ext cx="4769968" cy="3749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CustomerType { Regular, Silver, Gold }</a:t>
            </a:r>
            <a:endParaRPr lang="en-US" sz="900" dirty="0"/>
          </a:p>
          <a:p>
            <a:pPr algn="l" indent="0" marL="0">
              <a:buNone/>
            </a:pPr>
            <a:r>
              <a:rPr lang="en-US" alt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decimal VatRate = 1.18m, MemberDiscount = 5m;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alt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decimal CalculatePriceWithVat(</a:t>
            </a:r>
            <a:endParaRPr lang="en-US" sz="900" dirty="0"/>
          </a:p>
          <a:p>
            <a:pPr algn="l" indent="0" marL="0">
              <a:buNone/>
            </a:pPr>
            <a:r>
              <a:rPr lang="en-US" alt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decimal basePrice, CustomerType customer, bool isMember)</a:t>
            </a:r>
            <a:endParaRPr lang="en-US" sz="900" dirty="0"/>
          </a:p>
          <a:p>
            <a:pPr algn="l" indent="0" marL="0">
              <a:buNone/>
            </a:pPr>
            <a:r>
              <a:rPr lang="en-US" alt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algn="l" indent="0" marL="0">
              <a:buNone/>
            </a:pPr>
            <a:r>
              <a:rPr lang="en-US" alt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decimal price = ApplyCustomerDiscount(basePrice, customer);</a:t>
            </a:r>
            <a:endParaRPr lang="en-US" sz="900" dirty="0"/>
          </a:p>
          <a:p>
            <a:pPr algn="l" indent="0" marL="0">
              <a:buNone/>
            </a:pPr>
            <a:r>
              <a:rPr lang="en-US" alt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(isMember) price -= MemberDiscount;</a:t>
            </a:r>
            <a:endParaRPr lang="en-US" sz="900" dirty="0"/>
          </a:p>
          <a:p>
            <a:pPr algn="l" indent="0" marL="0">
              <a:buNone/>
            </a:pPr>
            <a:r>
              <a:rPr lang="en-US" alt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Math.Max(price, 0) * VatRate;</a:t>
            </a:r>
            <a:endParaRPr lang="en-US" sz="900" dirty="0"/>
          </a:p>
          <a:p>
            <a:pPr algn="l" indent="0" marL="0">
              <a:buNone/>
            </a:pPr>
            <a:r>
              <a:rPr lang="en-US" alt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alt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decimal ApplyCustomerDiscount(decimal p, CustomerType c)</a:t>
            </a:r>
            <a:endParaRPr lang="en-US" sz="900" dirty="0"/>
          </a:p>
          <a:p>
            <a:pPr algn="l" indent="0" marL="0">
              <a:buNone/>
            </a:pPr>
            <a:r>
              <a:rPr lang="en-US" alt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=&gt; c switch</a:t>
            </a:r>
            <a:endParaRPr lang="en-US" sz="900" dirty="0"/>
          </a:p>
          <a:p>
            <a:pPr algn="l" indent="0" marL="0">
              <a:buNone/>
            </a:pPr>
            <a:r>
              <a:rPr lang="en-US" alt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900" dirty="0"/>
          </a:p>
          <a:p>
            <a:pPr algn="l" indent="0" marL="0">
              <a:buNone/>
            </a:pPr>
            <a:r>
              <a:rPr lang="en-US" alt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CustomerType.Silver =&gt; p * 0.9m,</a:t>
            </a:r>
            <a:endParaRPr lang="en-US" sz="900" dirty="0"/>
          </a:p>
          <a:p>
            <a:pPr algn="l" indent="0" marL="0">
              <a:buNone/>
            </a:pPr>
            <a:r>
              <a:rPr lang="en-US" alt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CustomerType.Gold   =&gt; p * 0.8m,</a:t>
            </a:r>
            <a:endParaRPr lang="en-US" sz="900" dirty="0"/>
          </a:p>
          <a:p>
            <a:pPr algn="l" indent="0" marL="0">
              <a:buNone/>
            </a:pPr>
            <a:r>
              <a:rPr lang="en-US" alt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 =&gt; p,</a:t>
            </a:r>
            <a:endParaRPr lang="en-US" sz="900" dirty="0"/>
          </a:p>
          <a:p>
            <a:pPr algn="l" indent="0" marL="0">
              <a:buNone/>
            </a:pPr>
            <a:r>
              <a:rPr lang="en-US" altLang="en-US" sz="9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בקצרה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8158277" y="137160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11535" y="160020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7265" y="172593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86877" y="22402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— Single Responsibility</a:t>
            </a:r>
            <a:endParaRPr lang="he-IL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386877" y="274320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סיבה אחת להשתנות. Order לא שולח מייל.</a:t>
            </a:r>
            <a:endParaRPr lang="he-IL" sz="1200" dirty="0"/>
          </a:p>
        </p:txBody>
      </p:sp>
      <p:sp>
        <p:nvSpPr>
          <p:cNvPr id="8" name="Shape 5"/>
          <p:cNvSpPr/>
          <p:nvPr/>
        </p:nvSpPr>
        <p:spPr>
          <a:xfrm>
            <a:off x="4353458" y="137160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06717" y="160020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447" y="172593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82058" y="22402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— Open/Closed</a:t>
            </a:r>
            <a:endParaRPr lang="he-IL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582058" y="274320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סוג עובד חדש = מחלקה חדשה, לא case נוסף.</a:t>
            </a:r>
            <a:endParaRPr lang="he-IL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137160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301898" y="160020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7628" y="172593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77240" y="22402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— Liskov</a:t>
            </a:r>
            <a:endParaRPr lang="he-IL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274320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יורש מתנהג כמו האב מבחינת המשתמש בו.</a:t>
            </a:r>
            <a:endParaRPr lang="he-IL" sz="1200" dirty="0"/>
          </a:p>
        </p:txBody>
      </p:sp>
      <p:sp>
        <p:nvSpPr>
          <p:cNvPr id="18" name="Shape 13"/>
          <p:cNvSpPr/>
          <p:nvPr/>
        </p:nvSpPr>
        <p:spPr>
          <a:xfrm>
            <a:off x="8158277" y="395478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911535" y="418338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7265" y="430911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386877" y="482346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— Interface Segregation</a:t>
            </a:r>
            <a:endParaRPr lang="he-IL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8386877" y="532638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ממשקים קטנים וממוקדים, לא 12 מתודות.</a:t>
            </a:r>
            <a:endParaRPr lang="he-IL" sz="1200" dirty="0"/>
          </a:p>
        </p:txBody>
      </p:sp>
      <p:sp>
        <p:nvSpPr>
          <p:cNvPr id="23" name="Shape 17"/>
          <p:cNvSpPr/>
          <p:nvPr/>
        </p:nvSpPr>
        <p:spPr>
          <a:xfrm>
            <a:off x="4353458" y="395478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106717" y="418338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447" y="4309110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582058" y="482346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— Dependency Inversion</a:t>
            </a:r>
            <a:endParaRPr lang="he-IL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4582058" y="532638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תלות ב-ILogger, לא ב-new FileLogger().</a:t>
            </a:r>
            <a:endParaRPr lang="he-IL" sz="1200" dirty="0"/>
          </a:p>
        </p:txBody>
      </p:sp>
      <p:sp>
        <p:nvSpPr>
          <p:cNvPr id="28" name="Shape 21"/>
          <p:cNvSpPr/>
          <p:nvPr/>
        </p:nvSpPr>
        <p:spPr>
          <a:xfrm>
            <a:off x="548640" y="395478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3301898" y="418338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7628" y="4309110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77240" y="482346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</a:t>
            </a:r>
            <a:endParaRPr lang="he-IL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777240" y="532638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אל תחזרו על ידע. חילוץ מתודה / delegate.</a:t>
            </a:r>
            <a:endParaRPr lang="he-IL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הרגלים יומיומיים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שמות שמתארים כוונה: elapsedDays, IsEligibleForDiscount, לא d / Check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מתודות קטנות (~20 שורות), דבר אחד; "ו" בשם = שתי מתודות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מספרי קסם → const / static readonly / enum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הערות ל-"למה", לא ל-"מה"; קוד בהערה — למחוק, יש git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.editorconfig + dotnet format — סגנון אחד לצוות</a:t>
            </a:r>
            <a:endParaRPr lang="he-IL" sz="18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dotnet format --verify-no-changes ב-CI</a:t>
            </a:r>
            <a:endParaRPr lang="he-IL" sz="18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TreatWarningsAsErrors בפרויקטים חדשים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קוד רב-שימושי: ממשקים, גנריקה, delegates — הכלים של היום</a:t>
            </a:r>
            <a:endParaRPr lang="he-IL" sz="18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3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5835" y="6172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6576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4 — בנק עמיד: לדבג ולתקן</a:t>
            </a:r>
            <a:endParaRPr lang="he-IL" sz="3200" dirty="0"/>
          </a:p>
        </p:txBody>
      </p:sp>
      <p:sp>
        <p:nvSpPr>
          <p:cNvPr id="5" name="Shape 2"/>
          <p:cNvSpPr/>
          <p:nvPr/>
        </p:nvSpPr>
        <p:spPr>
          <a:xfrm>
            <a:off x="4693615" y="1371600"/>
            <a:ext cx="6949440" cy="484632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922215" y="15087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המשימות</a:t>
            </a:r>
            <a:endParaRPr lang="he-IL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922215" y="2011680"/>
            <a:ext cx="6492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שחזרו: open → deposit 100 → withdraw 80 → show. מה לא בסדר?</a:t>
            </a:r>
            <a:endParaRPr lang="he-IL" sz="14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Breakpoint ב-Account.Withdraw, Watch על Balance; Immediate: _accounts.Keys</a:t>
            </a:r>
            <a:endParaRPr lang="he-IL" sz="14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Settings על BankException — איפה נעלם הפריים של Account.Withdraw?</a:t>
            </a:r>
            <a:endParaRPr lang="he-IL" sz="14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decimal.Parse → TryParse; RequireArgs guard clause; catch ל-ArgumentException</a:t>
            </a:r>
            <a:endParaRPr lang="he-IL" sz="14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processed++ ב-finally; using על TransactionLog</a:t>
            </a:r>
            <a:endParaRPr lang="he-IL" sz="14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AccountNotFound / InsufficientFunds (עם Shortfall) / InvalidAmount : BankException</a:t>
            </a:r>
            <a:endParaRPr lang="he-IL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87775" y="155448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75" y="166878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" y="155448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המטרה</a:t>
            </a:r>
            <a:endParaRPr lang="he-IL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205740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שמתקמפל ורץ אבל מכיל 8+ באגים: לוגיים, throw ex;, קובץ לוג ריק, וקריסות על קלט. למצוא עם הדיבאגר, לתקן, ולהוסיף היררכיית חריגות.</a:t>
            </a:r>
            <a:endParaRPr lang="he-IL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07848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87775" y="326136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75" y="337566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31520" y="326136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משך</a:t>
            </a:r>
            <a:endParaRPr lang="he-IL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376428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דקות</a:t>
            </a:r>
            <a:endParaRPr lang="he-IL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478536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687775" y="496824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2075" y="50825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" y="496824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תוצר</a:t>
            </a:r>
            <a:endParaRPr lang="he-IL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547116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 שלא נופלת על שום קלט, transactions.log מלא, BankException + 3 יורשות, ורשימת הבאגים שמצאתם.</a:t>
            </a:r>
            <a:endParaRPr lang="he-IL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0" dirty="0">
                <a:solidFill>
                  <a:srgbClr val="FFB020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endParaRPr lang="en-US" sz="20000" dirty="0"/>
          </a:p>
        </p:txBody>
      </p:sp>
      <p:sp>
        <p:nvSpPr>
          <p:cNvPr id="3" name="Text 1"/>
          <p:cNvSpPr txBox="1"/>
          <p:nvPr/>
        </p:nvSpPr>
        <p:spPr>
          <a:xfrm>
            <a:off x="2286000" y="1645920"/>
            <a:ext cx="935705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קוד נקרא הרבה יותר פעמים ממה שהוא נכתב. כתבו למי שיקרא אותו בעוד חצי שנה — כנראה אתם.</a:t>
            </a:r>
            <a:endParaRPr lang="he-IL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4663440"/>
            <a:ext cx="9357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עקרון מנחה לכל הקורס</a:t>
            </a:r>
            <a:endParaRPr lang="he-IL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512BD4">
              <a:alpha val="30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 יום 1</a:t>
            </a:r>
            <a:endParaRPr lang="he-IL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828800"/>
            <a:ext cx="835121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מודרני: top-level, var, nullable, switch expressions, records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OOP: אנקפסולציה, ירושה (virtual/override/abstract), ממשקים, פולימורפיזם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אוספים: List / Dictionary / HashSet / Queue / Stack, גנריקה, IReadOnlyList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delegates, events, LINQ ו-deferred execution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חריגות: try/catch/finally/when, using, guard clauses, TryParse; הדיבאגר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מחר: קבצים ו-JSON, async/await, HttpClient, בדיקות, Dependency Injection</a:t>
            </a:r>
            <a:endParaRPr lang="he-IL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6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שיעורי בית: להשלים את Lab 3 / Lab 4 ואת התרגילים ★★ — נשתמש במודלים מחר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1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יום 1 — OOP, אוספים וחריגות</dc:title>
  <dc:subject>PptxGenJS Presentation</dc:subject>
  <dc:creator>PptxGenJS</dc:creator>
  <cp:lastModifiedBy>PptxGenJS</cp:lastModifiedBy>
  <cp:revision>1</cp:revision>
  <dcterms:created xsi:type="dcterms:W3CDTF">2026-09-27T23:46:27Z</dcterms:created>
  <dcterms:modified xsi:type="dcterms:W3CDTF">2026-09-27T23:46:27Z</dcterms:modified>
</cp:coreProperties>
</file>